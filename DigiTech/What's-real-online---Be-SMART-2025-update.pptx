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7"/>
  </p:notesMasterIdLst>
  <p:sldIdLst>
    <p:sldId id="256" r:id="rId5"/>
    <p:sldId id="257" r:id="rId6"/>
    <p:sldId id="284" r:id="rId7"/>
    <p:sldId id="261" r:id="rId8"/>
    <p:sldId id="262" r:id="rId9"/>
    <p:sldId id="263" r:id="rId10"/>
    <p:sldId id="258" r:id="rId11"/>
    <p:sldId id="264" r:id="rId12"/>
    <p:sldId id="265" r:id="rId13"/>
    <p:sldId id="266" r:id="rId14"/>
    <p:sldId id="285" r:id="rId15"/>
    <p:sldId id="286" r:id="rId16"/>
  </p:sldIdLst>
  <p:sldSz cx="18288000" cy="10287000"/>
  <p:notesSz cx="6858000" cy="9144000"/>
  <p:embeddedFontLst>
    <p:embeddedFont>
      <p:font typeface="Lexend" pitchFamily="2" charset="0"/>
      <p:regular r:id="rId18"/>
      <p:bold r:id="rId19"/>
    </p:embeddedFont>
    <p:embeddedFont>
      <p:font typeface="Proxima Nova" panose="02000506030000020004" pitchFamily="50"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496"/>
    <a:srgbClr val="FEF9F0"/>
    <a:srgbClr val="FC7373"/>
    <a:srgbClr val="18223C"/>
    <a:srgbClr val="FBE1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941F8F-0539-4FA3-8F82-0009D57A7130}" v="28" dt="2024-02-14T19:47:17.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3754" autoAdjust="0"/>
  </p:normalViewPr>
  <p:slideViewPr>
    <p:cSldViewPr>
      <p:cViewPr varScale="1">
        <p:scale>
          <a:sx n="79" d="100"/>
          <a:sy n="79" d="100"/>
        </p:scale>
        <p:origin x="1260"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20.08.2025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This </a:t>
            </a:r>
            <a:r>
              <a:rPr lang="en-US" i="1" dirty="0" err="1"/>
              <a:t>Netsafe</a:t>
            </a:r>
            <a:r>
              <a:rPr lang="en-US" i="1" dirty="0"/>
              <a:t> presentation is licensed under a creative commons attribution - non commercial - </a:t>
            </a:r>
            <a:r>
              <a:rPr lang="en-US" i="1" dirty="0" err="1"/>
              <a:t>Sharealike</a:t>
            </a:r>
            <a:r>
              <a:rPr lang="en-US" i="1" dirty="0"/>
              <a:t> 4.0 New Zealand License CC BY-NC-SA 4.0 NZ: https://creativecommons.org/licenses/by-nc-sa/4.0/deed.en</a:t>
            </a:r>
          </a:p>
          <a:p>
            <a:endParaRPr lang="en-US" dirty="0"/>
          </a:p>
          <a:p>
            <a:r>
              <a:rPr lang="en-US" dirty="0"/>
              <a:t>We all love a good story, and most of us are happy to watch a movie and pretend it's real so we can see a hero save the world. But in the online world, people sometimes lose track of what's real and what's not. Online information can be a mix of fact, opinions and edited stories. So let's practice being SMART so we can tell what's real online. </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a:spcBef>
                <a:spcPts val="0"/>
              </a:spcBef>
              <a:spcAft>
                <a:spcPts val="0"/>
              </a:spcAft>
            </a:pPr>
            <a:r>
              <a:rPr lang="mi-NZ" sz="1800" dirty="0">
                <a:effectLst/>
                <a:latin typeface="Calibri" panose="020F0502020204030204" pitchFamily="34" charset="0"/>
              </a:rPr>
              <a:t>The internet is a global electronic communication network. People share facts, opinions and stories online through images, videos, messages, emails, articles, blogs, websites, adverts and games on the World Wide Web. </a:t>
            </a:r>
          </a:p>
          <a:p>
            <a:pPr marL="0" marR="0">
              <a:spcBef>
                <a:spcPts val="0"/>
              </a:spcBef>
              <a:spcAft>
                <a:spcPts val="0"/>
              </a:spcAft>
            </a:pPr>
            <a:r>
              <a:rPr lang="mi-NZ" sz="1800" dirty="0">
                <a:effectLst/>
                <a:latin typeface="Calibri" panose="020F0502020204030204" pitchFamily="34" charset="0"/>
              </a:rPr>
              <a:t> </a:t>
            </a:r>
          </a:p>
          <a:p>
            <a:pPr marL="0" marR="0">
              <a:spcBef>
                <a:spcPts val="0"/>
              </a:spcBef>
              <a:spcAft>
                <a:spcPts val="0"/>
              </a:spcAft>
            </a:pPr>
            <a:r>
              <a:rPr lang="mi-NZ" sz="1800" dirty="0">
                <a:effectLst/>
                <a:latin typeface="Calibri" panose="020F0502020204030204" pitchFamily="34" charset="0"/>
              </a:rPr>
              <a:t>Anyone can post information on the web. That's one of the great things about the internet - it lets everyone contribute and makes information accessible to everyone with an internet connection. But the web itself can't tell us whether the person who posted the information is sharing the facts, making it up, expressing their opinion, or even if they're an AI bot.</a:t>
            </a:r>
          </a:p>
          <a:p>
            <a:pPr marL="0" marR="0">
              <a:spcBef>
                <a:spcPts val="0"/>
              </a:spcBef>
              <a:spcAft>
                <a:spcPts val="0"/>
              </a:spcAft>
            </a:pPr>
            <a:r>
              <a:rPr lang="mi-NZ" sz="1800" dirty="0">
                <a:effectLst/>
                <a:latin typeface="Calibri" panose="020F0502020204030204" pitchFamily="34" charset="0"/>
              </a:rPr>
              <a:t> </a:t>
            </a:r>
          </a:p>
          <a:p>
            <a:pPr marL="0" marR="0">
              <a:spcBef>
                <a:spcPts val="0"/>
              </a:spcBef>
              <a:spcAft>
                <a:spcPts val="0"/>
              </a:spcAft>
            </a:pPr>
            <a:r>
              <a:rPr lang="mi-NZ" sz="1800" dirty="0">
                <a:effectLst/>
                <a:latin typeface="Calibri" panose="020F0502020204030204" pitchFamily="34" charset="0"/>
              </a:rPr>
              <a:t>Technology like search engines, social media and AI can help us search for and share information on the web but they can't help us make sense of what's 'real'. More often than not, popular made-up stories or opinion pieces throw off the results. The information we see online is a mixture of opinions, facts and stories. It's up to us to work out what's real.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83CDF-A62D-65FD-62FD-FDA434D647B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75FB56-12CD-7157-B379-FBD5C9F2905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FB32EC3-8636-F2A2-0C7C-C765F7F55EF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7D5062E-653D-3D84-48EE-AC3A959C4FA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7BE09A2-AD42-DB0F-3FB8-3D449B655B9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i="0" dirty="0"/>
              <a:t>To believe, or not to believe, that is the question. </a:t>
            </a:r>
            <a:r>
              <a:rPr lang="en-US" i="1" dirty="0"/>
              <a:t>(alluding to the famous quote from Shakespeare’s Hamlet)</a:t>
            </a:r>
          </a:p>
          <a:p>
            <a:endParaRPr lang="en-US" dirty="0"/>
          </a:p>
          <a:p>
            <a:pPr marL="0" marR="0">
              <a:spcBef>
                <a:spcPts val="0"/>
              </a:spcBef>
              <a:spcAft>
                <a:spcPts val="0"/>
              </a:spcAft>
            </a:pPr>
            <a:r>
              <a:rPr lang="mi-NZ" sz="1800" dirty="0">
                <a:effectLst/>
                <a:latin typeface="Calibri" panose="020F0502020204030204" pitchFamily="34" charset="0"/>
              </a:rPr>
              <a:t>To help us check what’s real online, there are lots of things we can check for. For example, information is more likely to be real when:</a:t>
            </a:r>
          </a:p>
          <a:p>
            <a:pPr rtl="0" fontAlgn="ctr">
              <a:spcBef>
                <a:spcPts val="0"/>
              </a:spcBef>
              <a:spcAft>
                <a:spcPts val="0"/>
              </a:spcAft>
              <a:buFont typeface="Arial" panose="020B0604020202020204" pitchFamily="34" charset="0"/>
              <a:buChar char="•"/>
            </a:pPr>
            <a:r>
              <a:rPr lang="mi-NZ" sz="1800" dirty="0">
                <a:effectLst/>
                <a:latin typeface="Calibri" panose="020F0502020204030204" pitchFamily="34" charset="0"/>
              </a:rPr>
              <a:t> we know we can trust the source</a:t>
            </a:r>
          </a:p>
          <a:p>
            <a:pPr rtl="0" fontAlgn="ctr">
              <a:spcBef>
                <a:spcPts val="0"/>
              </a:spcBef>
              <a:spcAft>
                <a:spcPts val="0"/>
              </a:spcAft>
              <a:buFont typeface="Arial" panose="020B0604020202020204" pitchFamily="34" charset="0"/>
              <a:buChar char="•"/>
            </a:pPr>
            <a:r>
              <a:rPr lang="mi-NZ" sz="1800" dirty="0">
                <a:effectLst/>
                <a:latin typeface="Calibri" panose="020F0502020204030204" pitchFamily="34" charset="0"/>
              </a:rPr>
              <a:t> the information comes from someone in authority</a:t>
            </a:r>
          </a:p>
          <a:p>
            <a:pPr rtl="0" fontAlgn="ctr">
              <a:spcBef>
                <a:spcPts val="0"/>
              </a:spcBef>
              <a:spcAft>
                <a:spcPts val="0"/>
              </a:spcAft>
              <a:buFont typeface="Arial" panose="020B0604020202020204" pitchFamily="34" charset="0"/>
              <a:buChar char="•"/>
            </a:pPr>
            <a:r>
              <a:rPr lang="mi-NZ" sz="1800" dirty="0">
                <a:effectLst/>
                <a:latin typeface="Calibri" panose="020F0502020204030204" pitchFamily="34" charset="0"/>
              </a:rPr>
              <a:t> we can find the same information across two different sources.</a:t>
            </a:r>
          </a:p>
          <a:p>
            <a:pPr marL="0" marR="0">
              <a:spcBef>
                <a:spcPts val="0"/>
              </a:spcBef>
              <a:spcAft>
                <a:spcPts val="0"/>
              </a:spcAft>
            </a:pPr>
            <a:endParaRPr lang="mi-NZ" sz="1800" dirty="0">
              <a:effectLst/>
              <a:latin typeface="Calibri" panose="020F0502020204030204" pitchFamily="34" charset="0"/>
            </a:endParaRPr>
          </a:p>
          <a:p>
            <a:pPr marL="0" marR="0">
              <a:spcBef>
                <a:spcPts val="0"/>
              </a:spcBef>
              <a:spcAft>
                <a:spcPts val="0"/>
              </a:spcAft>
            </a:pPr>
            <a:r>
              <a:rPr lang="mi-NZ" sz="1800" dirty="0">
                <a:effectLst/>
                <a:latin typeface="Calibri" panose="020F0502020204030204" pitchFamily="34" charset="0"/>
              </a:rPr>
              <a:t>To help us remember what to check for, let's put on our SMART glasses to work out what's real.</a:t>
            </a:r>
          </a:p>
          <a:p>
            <a:pPr marL="0" marR="0">
              <a:spcBef>
                <a:spcPts val="0"/>
              </a:spcBef>
              <a:spcAft>
                <a:spcPts val="0"/>
              </a:spcAft>
            </a:pPr>
            <a:endParaRPr lang="mi-NZ" sz="1800" dirty="0">
              <a:effectLst/>
              <a:latin typeface="Calibri" panose="020F0502020204030204" pitchFamily="34" charset="0"/>
            </a:endParaRPr>
          </a:p>
        </p:txBody>
      </p:sp>
      <p:sp>
        <p:nvSpPr>
          <p:cNvPr id="6" name="Footer Placeholder 5">
            <a:extLst>
              <a:ext uri="{FF2B5EF4-FFF2-40B4-BE49-F238E27FC236}">
                <a16:creationId xmlns:a16="http://schemas.microsoft.com/office/drawing/2014/main" id="{6C41BD29-AA19-CF29-DB97-02788573502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134A42E-75B5-3E3D-DEDD-2F7A11D8A7F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85341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a:t>Source</a:t>
            </a:r>
          </a:p>
          <a:p>
            <a:endParaRPr lang="en-US" dirty="0"/>
          </a:p>
          <a:p>
            <a:r>
              <a:rPr lang="en-US" dirty="0"/>
              <a:t>Ask yourself: </a:t>
            </a:r>
          </a:p>
          <a:p>
            <a:pPr marL="171450" indent="-171450">
              <a:buFont typeface="Arial" panose="020B0604020202020204" pitchFamily="34" charset="0"/>
              <a:buChar char="•"/>
            </a:pPr>
            <a:r>
              <a:rPr lang="en-US" dirty="0"/>
              <a:t>Who or what is the source? Is it from a company, an individual?</a:t>
            </a:r>
          </a:p>
          <a:p>
            <a:pPr marL="171450" indent="-171450">
              <a:buFont typeface="Arial" panose="020B0604020202020204" pitchFamily="34" charset="0"/>
              <a:buChar char="•"/>
            </a:pPr>
            <a:r>
              <a:rPr lang="en-US" dirty="0"/>
              <a:t>Do you trust the person who shared this information? </a:t>
            </a:r>
          </a:p>
          <a:p>
            <a:pPr marL="171450" indent="-171450">
              <a:buFont typeface="Arial" panose="020B0604020202020204" pitchFamily="34" charset="0"/>
              <a:buChar char="•"/>
            </a:pPr>
            <a:r>
              <a:rPr lang="en-US" dirty="0"/>
              <a:t>Where did it come from?</a:t>
            </a:r>
          </a:p>
          <a:p>
            <a:endParaRPr lang="en-US" dirty="0"/>
          </a:p>
          <a:p>
            <a:r>
              <a:rPr lang="en-US" dirty="0"/>
              <a:t>Nowadays, not all online information comes from people. Artificial Intelligence (AI) can now use existing data to generate new content like text, images, videos or music. And AI can respond to you in language that sounds like natural conversation. </a:t>
            </a:r>
            <a:r>
              <a:rPr lang="en-US" i="1" dirty="0"/>
              <a:t>The problem is, the data AI uses isn’t just fact-based. Because it’s based on what people have already written and shared, it’s full of opinions, stories, and misinformation as well as facts.</a:t>
            </a:r>
          </a:p>
          <a:p>
            <a:endParaRPr lang="en-US" dirty="0"/>
          </a:p>
          <a:p>
            <a:r>
              <a:rPr lang="en-US" dirty="0"/>
              <a:t>So it's even more important than ever to track online information back to the original source, to help us decide if it's trustworthy.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a:t>Motive</a:t>
            </a:r>
          </a:p>
          <a:p>
            <a:r>
              <a:rPr lang="en-US" dirty="0"/>
              <a:t>Note: Motive= a reason for doing something.</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Motives matter. People write information and make images for all sorts of reasons. Sometimes it's to inform others, sometimes to entertain others, sometimes it's to convince other people do something (download, share, buy now), and sometimes it's to make money for themselves. So it's important to stop and think about what the motive could be.</a:t>
            </a:r>
          </a:p>
          <a:p>
            <a:endParaRPr lang="en-US" dirty="0"/>
          </a:p>
          <a:p>
            <a:endParaRPr lang="en-US" dirty="0"/>
          </a:p>
          <a:p>
            <a:r>
              <a:rPr lang="en-US" dirty="0"/>
              <a:t>Ask yourself: </a:t>
            </a:r>
          </a:p>
          <a:p>
            <a:pPr marL="171450" indent="-171450">
              <a:buFont typeface="Arial" panose="020B0604020202020204" pitchFamily="34" charset="0"/>
              <a:buChar char="•"/>
            </a:pPr>
            <a:r>
              <a:rPr lang="en-US" dirty="0"/>
              <a:t>Why would someone spread this story?</a:t>
            </a:r>
          </a:p>
          <a:p>
            <a:pPr marL="171450" indent="-171450">
              <a:buFont typeface="Arial" panose="020B0604020202020204" pitchFamily="34" charset="0"/>
              <a:buChar char="•"/>
            </a:pPr>
            <a:r>
              <a:rPr lang="en-US" dirty="0"/>
              <a:t>What could someone gain if you believed this information? Are they being paid to promote a product or service?</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a:t>Authority</a:t>
            </a:r>
          </a:p>
          <a:p>
            <a:endParaRPr lang="en-US" dirty="0"/>
          </a:p>
          <a:p>
            <a:r>
              <a:rPr lang="en-US" dirty="0"/>
              <a:t>Ask yourself:</a:t>
            </a:r>
          </a:p>
          <a:p>
            <a:pPr marL="171450" indent="-171450">
              <a:buFont typeface="Arial" panose="020B0604020202020204" pitchFamily="34" charset="0"/>
              <a:buChar char="•"/>
            </a:pPr>
            <a:r>
              <a:rPr lang="en-US" dirty="0"/>
              <a:t>What makes this story believable? </a:t>
            </a:r>
          </a:p>
          <a:p>
            <a:pPr marL="171450" indent="-171450">
              <a:buFont typeface="Arial" panose="020B0604020202020204" pitchFamily="34" charset="0"/>
              <a:buChar char="•"/>
            </a:pPr>
            <a:r>
              <a:rPr lang="en-US" dirty="0"/>
              <a:t>Why should/shouldn't you believe this story coming from this source?</a:t>
            </a:r>
          </a:p>
          <a:p>
            <a:endParaRPr lang="en-US" dirty="0"/>
          </a:p>
          <a:p>
            <a:r>
              <a:rPr lang="en-US" dirty="0"/>
              <a:t>Ask the class what makes someone an authority on a subject. Consider discussing the following points:</a:t>
            </a:r>
          </a:p>
          <a:p>
            <a:pPr marL="171450" indent="-171450">
              <a:buFont typeface="Arial" panose="020B0604020202020204" pitchFamily="34" charset="0"/>
              <a:buChar char="•"/>
            </a:pPr>
            <a:r>
              <a:rPr lang="en-US" dirty="0"/>
              <a:t>Evidence</a:t>
            </a:r>
          </a:p>
          <a:p>
            <a:pPr marL="171450" indent="-171450">
              <a:buFont typeface="Arial" panose="020B0604020202020204" pitchFamily="34" charset="0"/>
              <a:buChar char="•"/>
            </a:pPr>
            <a:r>
              <a:rPr lang="en-US" dirty="0"/>
              <a:t>Lived experience</a:t>
            </a:r>
          </a:p>
          <a:p>
            <a:pPr marL="171450" indent="-171450">
              <a:buFont typeface="Arial" panose="020B0604020202020204" pitchFamily="34" charset="0"/>
              <a:buChar char="•"/>
            </a:pPr>
            <a:r>
              <a:rPr lang="en-US" dirty="0"/>
              <a:t>Expertise – qualifications, experience, authority, well-known and respected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Sometimes even people with authority may share their opinions rather than the facts – so how can we tell the difference?</a:t>
            </a:r>
          </a:p>
          <a:p>
            <a:pPr marL="0" indent="0">
              <a:buFont typeface="Arial" panose="020B0604020202020204" pitchFamily="34" charset="0"/>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a:t>Fact or opinion</a:t>
            </a:r>
          </a:p>
          <a:p>
            <a:r>
              <a:rPr lang="en-US" dirty="0"/>
              <a:t>A fact is a universal truth based on research/observation. It can be proved to be true.</a:t>
            </a:r>
          </a:p>
          <a:p>
            <a:endParaRPr lang="en-US" dirty="0"/>
          </a:p>
          <a:p>
            <a:r>
              <a:rPr lang="en-US" dirty="0"/>
              <a:t>An opinion is a personal belief or judgement that’s debatable and probably can’t be proven. </a:t>
            </a:r>
          </a:p>
          <a:p>
            <a:endParaRPr lang="en-US" dirty="0"/>
          </a:p>
          <a:p>
            <a:r>
              <a:rPr lang="en-US" dirty="0"/>
              <a:t>Examples (</a:t>
            </a:r>
            <a:r>
              <a:rPr lang="en-US" i="1" dirty="0"/>
              <a:t>You can get the class to guess fact/opinion)</a:t>
            </a:r>
          </a:p>
          <a:p>
            <a:pPr marL="171450" indent="-171450">
              <a:buFont typeface="Arial" panose="020B0604020202020204" pitchFamily="34" charset="0"/>
              <a:buChar char="•"/>
            </a:pPr>
            <a:r>
              <a:rPr lang="en-US" i="0" dirty="0"/>
              <a:t>Oranges are the best fruit (opinion)</a:t>
            </a:r>
          </a:p>
          <a:p>
            <a:pPr marL="171450" indent="-171450">
              <a:buFont typeface="Arial" panose="020B0604020202020204" pitchFamily="34" charset="0"/>
              <a:buChar char="•"/>
            </a:pPr>
            <a:r>
              <a:rPr lang="en-US" i="0" dirty="0" err="1"/>
              <a:t>Te</a:t>
            </a:r>
            <a:r>
              <a:rPr lang="en-US" i="0" dirty="0"/>
              <a:t> </a:t>
            </a:r>
            <a:r>
              <a:rPr lang="en-US" i="0" dirty="0" err="1"/>
              <a:t>Reo</a:t>
            </a:r>
            <a:r>
              <a:rPr lang="en-US" i="0" dirty="0"/>
              <a:t> Māori is an easy language to learn (opinion)</a:t>
            </a:r>
          </a:p>
          <a:p>
            <a:pPr marL="171450" indent="-171450">
              <a:buFont typeface="Arial" panose="020B0604020202020204" pitchFamily="34" charset="0"/>
              <a:buChar char="•"/>
            </a:pPr>
            <a:r>
              <a:rPr lang="en-US" i="0" dirty="0"/>
              <a:t>Our school principal is nice (opinion)</a:t>
            </a:r>
          </a:p>
          <a:p>
            <a:pPr marL="171450" indent="-171450">
              <a:buFont typeface="Arial" panose="020B0604020202020204" pitchFamily="34" charset="0"/>
              <a:buChar char="•"/>
            </a:pPr>
            <a:r>
              <a:rPr lang="en-US" i="0" dirty="0"/>
              <a:t>Homework will be put on Google Classroom (fact)</a:t>
            </a:r>
          </a:p>
          <a:p>
            <a:pPr marL="171450" indent="-171450">
              <a:buFont typeface="Arial" panose="020B0604020202020204" pitchFamily="34" charset="0"/>
              <a:buChar char="•"/>
            </a:pPr>
            <a:r>
              <a:rPr lang="en-US" i="0" dirty="0"/>
              <a:t>There’s a school assembly this week (fact)</a:t>
            </a:r>
          </a:p>
          <a:p>
            <a:pPr marL="171450" indent="-171450">
              <a:buFont typeface="Arial" panose="020B0604020202020204" pitchFamily="34" charset="0"/>
              <a:buChar char="•"/>
            </a:pPr>
            <a:r>
              <a:rPr lang="en-US" i="0" dirty="0"/>
              <a:t>It takes 5-10 days to grow a seedling from a tomato seed (fact)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a:t>Review</a:t>
            </a:r>
          </a:p>
          <a:p>
            <a:r>
              <a:rPr lang="en-US" dirty="0"/>
              <a:t>Read over the information you’ve found and check the information for anything that jumps out at you:</a:t>
            </a:r>
          </a:p>
          <a:p>
            <a:pPr marL="171450" indent="-171450">
              <a:buFont typeface="Arial" panose="020B0604020202020204" pitchFamily="34" charset="0"/>
              <a:buChar char="•"/>
            </a:pPr>
            <a:r>
              <a:rPr lang="en-US" dirty="0"/>
              <a:t>Fact-check - Check the source of any statistics or data</a:t>
            </a:r>
          </a:p>
          <a:p>
            <a:pPr marL="171450" indent="-171450">
              <a:buFont typeface="Arial" panose="020B0604020202020204" pitchFamily="34" charset="0"/>
              <a:buChar char="•"/>
            </a:pPr>
            <a:r>
              <a:rPr lang="en-US" dirty="0"/>
              <a:t>Time-check – Check the publish date and see if the facts the information is based on is current or if it could be out of date</a:t>
            </a:r>
          </a:p>
          <a:p>
            <a:pPr marL="171450" indent="-171450">
              <a:buFont typeface="Arial" panose="020B0604020202020204" pitchFamily="34" charset="0"/>
              <a:buChar char="•"/>
            </a:pPr>
            <a:r>
              <a:rPr lang="en-US" dirty="0"/>
              <a:t>Bias-check – could there be another side to this story? What’s been left out?</a:t>
            </a:r>
          </a:p>
          <a:p>
            <a:pPr marL="0" indent="0">
              <a:buFont typeface="Arial" panose="020B0604020202020204" pitchFamily="34" charset="0"/>
              <a:buNone/>
            </a:pPr>
            <a:r>
              <a:rPr lang="en-US" dirty="0"/>
              <a:t>Let’s take a look at bias and why it’s important when we’re figuring out what’s real.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a:t>Our biases</a:t>
            </a:r>
          </a:p>
          <a:p>
            <a:r>
              <a:rPr lang="en-US" dirty="0"/>
              <a:t>A bias is when we lean toward an answer before doing any research. This is important because sometimes bias can change what we check for or which facts we check.</a:t>
            </a:r>
          </a:p>
          <a:p>
            <a:endParaRPr lang="en-US" dirty="0"/>
          </a:p>
          <a:p>
            <a:r>
              <a:rPr lang="en-US" dirty="0"/>
              <a:t>When we’re searching for information online, bias can impact which words we use to ask a question. This can then limit the perspectives we find and the answers we come up with.  </a:t>
            </a:r>
          </a:p>
          <a:p>
            <a:endParaRPr lang="en-US" dirty="0"/>
          </a:p>
          <a:p>
            <a:r>
              <a:rPr lang="en-US" dirty="0"/>
              <a:t>Being aware of our bias can help us overcome it. So it’s a good idea to ask yourself, when I’m thinking about [this topic], what ideas do I already have?</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a:t>Two-source test</a:t>
            </a:r>
          </a:p>
          <a:p>
            <a:r>
              <a:rPr lang="en-US" dirty="0"/>
              <a:t>Check the information you've found with another source from a different authority. </a:t>
            </a:r>
          </a:p>
          <a:p>
            <a:r>
              <a:rPr lang="en-US" dirty="0"/>
              <a:t>Ask yourself:</a:t>
            </a:r>
          </a:p>
          <a:p>
            <a:pPr marL="171450" indent="-171450">
              <a:buFont typeface="Arial" panose="020B0604020202020204" pitchFamily="34" charset="0"/>
              <a:buChar char="•"/>
            </a:pPr>
            <a:r>
              <a:rPr lang="en-US" dirty="0"/>
              <a:t>How does the information compare? </a:t>
            </a:r>
          </a:p>
          <a:p>
            <a:pPr marL="171450" indent="-171450">
              <a:buFont typeface="Arial" panose="020B0604020202020204" pitchFamily="34" charset="0"/>
              <a:buChar char="•"/>
            </a:pPr>
            <a:r>
              <a:rPr lang="en-US" dirty="0"/>
              <a:t>What's the same, and what's different?</a:t>
            </a:r>
          </a:p>
          <a:p>
            <a:pPr marL="0" indent="0">
              <a:buFont typeface="Arial" panose="020B0604020202020204" pitchFamily="34" charset="0"/>
              <a:buNone/>
            </a:pPr>
            <a:r>
              <a:rPr lang="en-US" dirty="0"/>
              <a:t>Information that stays the same across different sources is more likely to be factual and real.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mi-NZ" dirty="0"/>
              <a:t>So when you find information online in your chats, in your email, or on a search engine, remember to put on your SMART glasses to help you check if it’s real.</a:t>
            </a:r>
            <a:endParaRPr lang="en-NZ" dirty="0"/>
          </a:p>
        </p:txBody>
      </p:sp>
      <p:sp>
        <p:nvSpPr>
          <p:cNvPr id="4" name="Slide Number Placeholder 3"/>
          <p:cNvSpPr>
            <a:spLocks noGrp="1"/>
          </p:cNvSpPr>
          <p:nvPr>
            <p:ph type="sldNum" sz="quarter" idx="5"/>
          </p:nvPr>
        </p:nvSpPr>
        <p:spPr/>
        <p:txBody>
          <a:bodyPr/>
          <a:lstStyle/>
          <a:p>
            <a:fld id="{871B2431-D351-4C6E-A3CF-9DFAC0E3E050}" type="slidenum">
              <a:rPr lang="cs-CZ" smtClean="0"/>
              <a:t>11</a:t>
            </a:fld>
            <a:endParaRPr lang="cs-CZ"/>
          </a:p>
        </p:txBody>
      </p:sp>
    </p:spTree>
    <p:extLst>
      <p:ext uri="{BB962C8B-B14F-4D97-AF65-F5344CB8AC3E}">
        <p14:creationId xmlns:p14="http://schemas.microsoft.com/office/powerpoint/2010/main" val="2814473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849B4-1B0F-4294-1BED-95F2A3B5F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65D13-65B0-AA1C-3BEE-CD93E6ACD3BA}"/>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F607B44C-71CC-B9B7-473A-884D8E181513}"/>
              </a:ext>
            </a:extLst>
          </p:cNvPr>
          <p:cNvSpPr>
            <a:spLocks noGrp="1"/>
          </p:cNvSpPr>
          <p:nvPr>
            <p:ph type="body" idx="1"/>
          </p:nvPr>
        </p:nvSpPr>
        <p:spPr/>
        <p:txBody>
          <a:bodyPr/>
          <a:lstStyle/>
          <a:p>
            <a:r>
              <a:rPr lang="mi-NZ" sz="1200" kern="0" dirty="0">
                <a:effectLst/>
                <a:latin typeface="Calibri" panose="020F0502020204030204" pitchFamily="34" charset="0"/>
                <a:ea typeface="Times New Roman" panose="02020603050405020304" pitchFamily="18" charset="0"/>
                <a:cs typeface="Calibri" panose="020F0502020204030204" pitchFamily="34" charset="0"/>
              </a:rPr>
              <a:t>If you have questions about keeping safe online, talk to a trusted adult and contact Netsafe. Netsafe is a NZ charity with a free and confidential helpline for anything to do with keeping safe online.</a:t>
            </a:r>
            <a:endParaRPr lang="en-NZ" dirty="0"/>
          </a:p>
        </p:txBody>
      </p:sp>
      <p:sp>
        <p:nvSpPr>
          <p:cNvPr id="4" name="Slide Number Placeholder 3">
            <a:extLst>
              <a:ext uri="{FF2B5EF4-FFF2-40B4-BE49-F238E27FC236}">
                <a16:creationId xmlns:a16="http://schemas.microsoft.com/office/drawing/2014/main" id="{EAC33763-2A8B-7855-759E-755197EA3888}"/>
              </a:ext>
            </a:extLst>
          </p:cNvPr>
          <p:cNvSpPr>
            <a:spLocks noGrp="1"/>
          </p:cNvSpPr>
          <p:nvPr>
            <p:ph type="sldNum" sz="quarter" idx="5"/>
          </p:nvPr>
        </p:nvSpPr>
        <p:spPr/>
        <p:txBody>
          <a:bodyPr/>
          <a:lstStyle/>
          <a:p>
            <a:fld id="{871B2431-D351-4C6E-A3CF-9DFAC0E3E050}" type="slidenum">
              <a:rPr lang="cs-CZ" smtClean="0"/>
              <a:t>12</a:t>
            </a:fld>
            <a:endParaRPr lang="cs-CZ"/>
          </a:p>
        </p:txBody>
      </p:sp>
    </p:spTree>
    <p:extLst>
      <p:ext uri="{BB962C8B-B14F-4D97-AF65-F5344CB8AC3E}">
        <p14:creationId xmlns:p14="http://schemas.microsoft.com/office/powerpoint/2010/main" val="1819663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F7A3C0-FF2C-2C28-C8BF-C16B93B1CA93}"/>
              </a:ext>
            </a:extLst>
          </p:cNvPr>
          <p:cNvSpPr txBox="1"/>
          <p:nvPr userDrawn="1"/>
        </p:nvSpPr>
        <p:spPr>
          <a:xfrm>
            <a:off x="990600" y="1496080"/>
            <a:ext cx="13411200" cy="646331"/>
          </a:xfrm>
          <a:prstGeom prst="rect">
            <a:avLst/>
          </a:prstGeom>
          <a:noFill/>
        </p:spPr>
        <p:txBody>
          <a:bodyPr wrap="square" rtlCol="0">
            <a:spAutoFit/>
          </a:bodyPr>
          <a:lstStyle/>
          <a:p>
            <a:r>
              <a:rPr lang="mi-NZ" sz="3600" dirty="0">
                <a:latin typeface="+mj-lt"/>
              </a:rPr>
              <a:t>Have a question about online safety? Contact Netsafe:</a:t>
            </a:r>
            <a:endParaRPr lang="en-NZ" sz="3600" dirty="0">
              <a:latin typeface="+mj-lt"/>
            </a:endParaRPr>
          </a:p>
        </p:txBody>
      </p:sp>
      <p:pic>
        <p:nvPicPr>
          <p:cNvPr id="4" name="Picture 3" descr="Call Netsafe on 0508 638 723. Text Netsafe to 4282. Submit an online harm report at netsafe.org.nz or chat to chatbot Kora on our website.">
            <a:extLst>
              <a:ext uri="{FF2B5EF4-FFF2-40B4-BE49-F238E27FC236}">
                <a16:creationId xmlns:a16="http://schemas.microsoft.com/office/drawing/2014/main" id="{BCC0D6AC-F1F8-50B5-C469-A28EA2DFE2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28800" y="1514475"/>
            <a:ext cx="14173200" cy="7972425"/>
          </a:xfrm>
          <a:prstGeom prst="rect">
            <a:avLst/>
          </a:prstGeom>
        </p:spPr>
      </p:pic>
    </p:spTree>
    <p:extLst>
      <p:ext uri="{BB962C8B-B14F-4D97-AF65-F5344CB8AC3E}">
        <p14:creationId xmlns:p14="http://schemas.microsoft.com/office/powerpoint/2010/main" val="1909222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10" name="Picture 9" descr="A black background with a black square&#10;&#10;AI-generated content may be incorrect.">
            <a:extLst>
              <a:ext uri="{FF2B5EF4-FFF2-40B4-BE49-F238E27FC236}">
                <a16:creationId xmlns:a16="http://schemas.microsoft.com/office/drawing/2014/main" id="{2A71D87B-0A53-5F11-64C5-F0D06206568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554200" y="8420100"/>
            <a:ext cx="3539826" cy="1664457"/>
          </a:xfrm>
          <a:prstGeom prst="rect">
            <a:avLst/>
          </a:prstGeom>
        </p:spPr>
      </p:pic>
    </p:spTree>
  </p:cSld>
  <p:clrMap bg1="lt1" tx1="dk1" bg2="lt2" tx2="dk2" accent1="accent1" accent2="accent2" accent3="accent3" accent4="accent4" accent5="accent5" accent6="accent6" hlink="hlink" folHlink="folHlink"/>
  <p:sldLayoutIdLst>
    <p:sldLayoutId id="2147483655" r:id="rId1"/>
    <p:sldLayoutId id="2147483660"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9" Type="http://schemas.openxmlformats.org/officeDocument/2006/relationships/image" Target="../media/image13.gif"/></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7.svg"/><Relationship Id="rId4" Type="http://schemas.openxmlformats.org/officeDocument/2006/relationships/image" Target="../media/image26.sv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31.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slides/_rels/slide10.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9.svg"/><Relationship Id="rId5" Type="http://schemas.openxmlformats.org/officeDocument/2006/relationships/image" Target="../media/image16.png"/><Relationship Id="rId4" Type="http://schemas.openxmlformats.org/officeDocument/2006/relationships/image" Target="../media/image38.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9F0"/>
        </a:solidFill>
        <a:effectLst/>
      </p:bgPr>
    </p:bg>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rot="206664">
            <a:off x="598709" y="716120"/>
            <a:ext cx="17090581" cy="4080376"/>
          </a:xfrm>
          <a:custGeom>
            <a:avLst/>
            <a:gdLst/>
            <a:ahLst/>
            <a:cxnLst/>
            <a:rect l="l" t="t" r="r" b="b"/>
            <a:pathLst>
              <a:path w="17090581" h="4080376">
                <a:moveTo>
                  <a:pt x="0" y="0"/>
                </a:moveTo>
                <a:lnTo>
                  <a:pt x="17090582" y="0"/>
                </a:lnTo>
                <a:lnTo>
                  <a:pt x="17090582" y="4080376"/>
                </a:lnTo>
                <a:lnTo>
                  <a:pt x="0" y="40803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NZ"/>
          </a:p>
        </p:txBody>
      </p:sp>
      <p:sp>
        <p:nvSpPr>
          <p:cNvPr id="3" name="TextBox 3"/>
          <p:cNvSpPr txBox="1">
            <a:spLocks noGrp="1" noRot="1" noMove="1" noResize="1" noEditPoints="1" noAdjustHandles="1" noChangeArrowheads="1" noChangeShapeType="1"/>
          </p:cNvSpPr>
          <p:nvPr/>
        </p:nvSpPr>
        <p:spPr>
          <a:xfrm>
            <a:off x="2133600" y="1512732"/>
            <a:ext cx="13447100" cy="1681229"/>
          </a:xfrm>
          <a:prstGeom prst="rect">
            <a:avLst/>
          </a:prstGeom>
        </p:spPr>
        <p:txBody>
          <a:bodyPr lIns="0" tIns="0" rIns="0" bIns="0" rtlCol="0" anchor="t">
            <a:spAutoFit/>
          </a:bodyPr>
          <a:lstStyle/>
          <a:p>
            <a:pPr algn="ctr">
              <a:lnSpc>
                <a:spcPts val="13798"/>
              </a:lnSpc>
            </a:pPr>
            <a:r>
              <a:rPr lang="en-US" sz="11499" dirty="0">
                <a:solidFill>
                  <a:schemeClr val="bg1"/>
                </a:solidFill>
                <a:latin typeface="+mj-lt"/>
              </a:rPr>
              <a:t>What’s real online?</a:t>
            </a:r>
          </a:p>
        </p:txBody>
      </p:sp>
      <p:sp>
        <p:nvSpPr>
          <p:cNvPr id="5" name="Freeform 5"/>
          <p:cNvSpPr>
            <a:spLocks noGrp="1" noRot="1" noMove="1" noResize="1" noEditPoints="1" noAdjustHandles="1" noChangeArrowheads="1" noChangeShapeType="1"/>
          </p:cNvSpPr>
          <p:nvPr/>
        </p:nvSpPr>
        <p:spPr>
          <a:xfrm>
            <a:off x="4696616" y="4177164"/>
            <a:ext cx="9273189" cy="5850539"/>
          </a:xfrm>
          <a:custGeom>
            <a:avLst/>
            <a:gdLst/>
            <a:ahLst/>
            <a:cxnLst/>
            <a:rect l="l" t="t" r="r" b="b"/>
            <a:pathLst>
              <a:path w="9273189" h="5850539">
                <a:moveTo>
                  <a:pt x="0" y="0"/>
                </a:moveTo>
                <a:lnTo>
                  <a:pt x="9273189" y="0"/>
                </a:lnTo>
                <a:lnTo>
                  <a:pt x="9273189" y="5850539"/>
                </a:lnTo>
                <a:lnTo>
                  <a:pt x="0" y="585053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6" name="TextBox 3">
            <a:extLst>
              <a:ext uri="{FF2B5EF4-FFF2-40B4-BE49-F238E27FC236}">
                <a16:creationId xmlns:a16="http://schemas.microsoft.com/office/drawing/2014/main" id="{630E2601-D8F3-7723-65DE-6597DF4837FE}"/>
              </a:ext>
            </a:extLst>
          </p:cNvPr>
          <p:cNvSpPr txBox="1">
            <a:spLocks noGrp="1" noRot="1" noMove="1" noResize="1" noEditPoints="1" noAdjustHandles="1" noChangeArrowheads="1" noChangeShapeType="1"/>
          </p:cNvSpPr>
          <p:nvPr/>
        </p:nvSpPr>
        <p:spPr>
          <a:xfrm>
            <a:off x="2286000" y="2476500"/>
            <a:ext cx="13447100" cy="1503040"/>
          </a:xfrm>
          <a:prstGeom prst="rect">
            <a:avLst/>
          </a:prstGeom>
        </p:spPr>
        <p:txBody>
          <a:bodyPr lIns="0" tIns="0" rIns="0" bIns="0" rtlCol="0" anchor="t">
            <a:spAutoFit/>
          </a:bodyPr>
          <a:lstStyle/>
          <a:p>
            <a:pPr algn="ctr">
              <a:lnSpc>
                <a:spcPts val="13798"/>
              </a:lnSpc>
            </a:pPr>
            <a:r>
              <a:rPr lang="en-US" sz="6000" dirty="0">
                <a:solidFill>
                  <a:schemeClr val="bg1"/>
                </a:solidFill>
                <a:latin typeface="+mj-lt"/>
              </a:rPr>
              <a:t>Be </a:t>
            </a:r>
            <a:r>
              <a:rPr lang="en-US" sz="6000" dirty="0">
                <a:solidFill>
                  <a:srgbClr val="FC7373"/>
                </a:solidFill>
                <a:latin typeface="+mj-lt"/>
              </a:rPr>
              <a:t>SMART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9F0"/>
        </a:solidFill>
        <a:effectLst/>
      </p:bgPr>
    </p:bg>
    <p:spTree>
      <p:nvGrpSpPr>
        <p:cNvPr id="1" name=""/>
        <p:cNvGrpSpPr/>
        <p:nvPr/>
      </p:nvGrpSpPr>
      <p:grpSpPr>
        <a:xfrm>
          <a:off x="0" y="0"/>
          <a:ext cx="0" cy="0"/>
          <a:chOff x="0" y="0"/>
          <a:chExt cx="0" cy="0"/>
        </a:xfrm>
      </p:grpSpPr>
      <p:sp>
        <p:nvSpPr>
          <p:cNvPr id="9" name="Freeform 13">
            <a:extLst>
              <a:ext uri="{FF2B5EF4-FFF2-40B4-BE49-F238E27FC236}">
                <a16:creationId xmlns:a16="http://schemas.microsoft.com/office/drawing/2014/main" id="{7E903DC7-0D0C-6DE4-48DF-E803BCE2A4CC}"/>
              </a:ext>
            </a:extLst>
          </p:cNvPr>
          <p:cNvSpPr>
            <a:spLocks noGrp="1" noRot="1" noMove="1" noResize="1" noEditPoints="1" noAdjustHandles="1" noChangeArrowheads="1" noChangeShapeType="1"/>
          </p:cNvSpPr>
          <p:nvPr/>
        </p:nvSpPr>
        <p:spPr>
          <a:xfrm flipH="1">
            <a:off x="609600" y="717365"/>
            <a:ext cx="5579726" cy="3492821"/>
          </a:xfrm>
          <a:custGeom>
            <a:avLst/>
            <a:gdLst/>
            <a:ahLst/>
            <a:cxnLst/>
            <a:rect l="l" t="t" r="r" b="b"/>
            <a:pathLst>
              <a:path w="5579726" h="3492821">
                <a:moveTo>
                  <a:pt x="0" y="0"/>
                </a:moveTo>
                <a:lnTo>
                  <a:pt x="5579726" y="0"/>
                </a:lnTo>
                <a:lnTo>
                  <a:pt x="5579726" y="3492820"/>
                </a:lnTo>
                <a:lnTo>
                  <a:pt x="0" y="34928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NZ"/>
          </a:p>
        </p:txBody>
      </p:sp>
      <p:sp>
        <p:nvSpPr>
          <p:cNvPr id="8" name="Freeform 6">
            <a:extLst>
              <a:ext uri="{FF2B5EF4-FFF2-40B4-BE49-F238E27FC236}">
                <a16:creationId xmlns:a16="http://schemas.microsoft.com/office/drawing/2014/main" id="{A30BCE48-E056-B540-C730-E271E24DA271}"/>
              </a:ext>
            </a:extLst>
          </p:cNvPr>
          <p:cNvSpPr>
            <a:spLocks noGrp="1" noRot="1" noMove="1" noResize="1" noEditPoints="1" noAdjustHandles="1" noChangeArrowheads="1" noChangeShapeType="1"/>
          </p:cNvSpPr>
          <p:nvPr/>
        </p:nvSpPr>
        <p:spPr>
          <a:xfrm>
            <a:off x="11757166" y="952500"/>
            <a:ext cx="5579726" cy="3492821"/>
          </a:xfrm>
          <a:custGeom>
            <a:avLst/>
            <a:gdLst/>
            <a:ahLst/>
            <a:cxnLst/>
            <a:rect l="l" t="t" r="r" b="b"/>
            <a:pathLst>
              <a:path w="5579726" h="3492821">
                <a:moveTo>
                  <a:pt x="0" y="0"/>
                </a:moveTo>
                <a:lnTo>
                  <a:pt x="5579727" y="0"/>
                </a:lnTo>
                <a:lnTo>
                  <a:pt x="5579727" y="3492821"/>
                </a:lnTo>
                <a:lnTo>
                  <a:pt x="0" y="349282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2" name="Freeform 2"/>
          <p:cNvSpPr>
            <a:spLocks noGrp="1" noRot="1" noMove="1" noResize="1" noEditPoints="1" noAdjustHandles="1" noChangeArrowheads="1" noChangeShapeType="1"/>
          </p:cNvSpPr>
          <p:nvPr/>
        </p:nvSpPr>
        <p:spPr>
          <a:xfrm>
            <a:off x="2991724" y="837314"/>
            <a:ext cx="10871334" cy="10287000"/>
          </a:xfrm>
          <a:custGeom>
            <a:avLst/>
            <a:gdLst/>
            <a:ahLst/>
            <a:cxnLst/>
            <a:rect l="l" t="t" r="r" b="b"/>
            <a:pathLst>
              <a:path w="10871334" h="10287000">
                <a:moveTo>
                  <a:pt x="0" y="0"/>
                </a:moveTo>
                <a:lnTo>
                  <a:pt x="10871334" y="0"/>
                </a:lnTo>
                <a:lnTo>
                  <a:pt x="10871334" y="10287000"/>
                </a:lnTo>
                <a:lnTo>
                  <a:pt x="0" y="10287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NZ"/>
          </a:p>
        </p:txBody>
      </p:sp>
      <p:pic>
        <p:nvPicPr>
          <p:cNvPr id="3" name="Picture 3"/>
          <p:cNvPicPr>
            <a:picLocks noGrp="1" noRot="1" noChangeAspect="1" noMove="1" noResize="1" noEditPoints="1" noAdjustHandles="1" noChangeArrowheads="1" noChangeShapeType="1" noCrop="1"/>
          </p:cNvPicPr>
          <p:nvPr/>
        </p:nvPicPr>
        <p:blipFill>
          <a:blip r:embed="rId9"/>
          <a:srcRect/>
          <a:stretch>
            <a:fillRect/>
          </a:stretch>
        </p:blipFill>
        <p:spPr>
          <a:xfrm>
            <a:off x="7710783" y="5980814"/>
            <a:ext cx="1433217" cy="1433217"/>
          </a:xfrm>
          <a:prstGeom prst="rect">
            <a:avLst/>
          </a:prstGeom>
        </p:spPr>
      </p:pic>
      <p:sp>
        <p:nvSpPr>
          <p:cNvPr id="6" name="TextBox 7">
            <a:extLst>
              <a:ext uri="{FF2B5EF4-FFF2-40B4-BE49-F238E27FC236}">
                <a16:creationId xmlns:a16="http://schemas.microsoft.com/office/drawing/2014/main" id="{93DA0129-FA48-D735-82D6-7D7E375FABBE}"/>
              </a:ext>
            </a:extLst>
          </p:cNvPr>
          <p:cNvSpPr txBox="1">
            <a:spLocks noGrp="1" noRot="1" noMove="1" noResize="1" noEditPoints="1" noAdjustHandles="1" noChangeArrowheads="1" noChangeShapeType="1"/>
          </p:cNvSpPr>
          <p:nvPr/>
        </p:nvSpPr>
        <p:spPr>
          <a:xfrm>
            <a:off x="2362200" y="1714500"/>
            <a:ext cx="5579726" cy="1498552"/>
          </a:xfrm>
          <a:prstGeom prst="rect">
            <a:avLst/>
          </a:prstGeom>
        </p:spPr>
        <p:txBody>
          <a:bodyPr lIns="0" tIns="0" rIns="0" bIns="0" rtlCol="0" anchor="t">
            <a:spAutoFit/>
          </a:bodyPr>
          <a:lstStyle/>
          <a:p>
            <a:pPr>
              <a:lnSpc>
                <a:spcPts val="12880"/>
              </a:lnSpc>
            </a:pPr>
            <a:r>
              <a:rPr lang="en-US" sz="7200" dirty="0">
                <a:solidFill>
                  <a:srgbClr val="18223C"/>
                </a:solidFill>
                <a:latin typeface="+mj-lt"/>
              </a:rPr>
              <a:t>Fact?</a:t>
            </a:r>
          </a:p>
        </p:txBody>
      </p:sp>
      <p:sp>
        <p:nvSpPr>
          <p:cNvPr id="7" name="TextBox 7">
            <a:extLst>
              <a:ext uri="{FF2B5EF4-FFF2-40B4-BE49-F238E27FC236}">
                <a16:creationId xmlns:a16="http://schemas.microsoft.com/office/drawing/2014/main" id="{8849BC55-EB8C-843E-D995-DB1A3C51EB8B}"/>
              </a:ext>
            </a:extLst>
          </p:cNvPr>
          <p:cNvSpPr txBox="1">
            <a:spLocks noGrp="1" noRot="1" noMove="1" noResize="1" noEditPoints="1" noAdjustHandles="1" noChangeArrowheads="1" noChangeShapeType="1"/>
          </p:cNvSpPr>
          <p:nvPr/>
        </p:nvSpPr>
        <p:spPr>
          <a:xfrm>
            <a:off x="12659806" y="1714500"/>
            <a:ext cx="5579726" cy="1498552"/>
          </a:xfrm>
          <a:prstGeom prst="rect">
            <a:avLst/>
          </a:prstGeom>
        </p:spPr>
        <p:txBody>
          <a:bodyPr lIns="0" tIns="0" rIns="0" bIns="0" rtlCol="0" anchor="t">
            <a:spAutoFit/>
          </a:bodyPr>
          <a:lstStyle/>
          <a:p>
            <a:pPr>
              <a:lnSpc>
                <a:spcPts val="12880"/>
              </a:lnSpc>
            </a:pPr>
            <a:r>
              <a:rPr lang="en-US" sz="7200" dirty="0">
                <a:solidFill>
                  <a:srgbClr val="18223C"/>
                </a:solidFill>
                <a:latin typeface="+mj-lt"/>
              </a:rPr>
              <a:t>Opinion?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A5496"/>
        </a:solidFill>
        <a:effectLst/>
      </p:bgPr>
    </p:bg>
    <p:spTree>
      <p:nvGrpSpPr>
        <p:cNvPr id="1" name="">
          <a:extLst>
            <a:ext uri="{FF2B5EF4-FFF2-40B4-BE49-F238E27FC236}">
              <a16:creationId xmlns:a16="http://schemas.microsoft.com/office/drawing/2014/main" id="{C77CEDA3-4183-12CA-6FA0-C3B66438C6DA}"/>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C4C2876D-A0E1-35BD-CFE7-3DDB6A6BB886}"/>
              </a:ext>
            </a:extLst>
          </p:cNvPr>
          <p:cNvSpPr>
            <a:spLocks noGrp="1" noRot="1" noMove="1" noResize="1" noEditPoints="1" noAdjustHandles="1" noChangeArrowheads="1" noChangeShapeType="1"/>
          </p:cNvSpPr>
          <p:nvPr/>
        </p:nvSpPr>
        <p:spPr>
          <a:xfrm>
            <a:off x="914400" y="593205"/>
            <a:ext cx="14989109" cy="8018012"/>
          </a:xfrm>
          <a:custGeom>
            <a:avLst/>
            <a:gdLst/>
            <a:ahLst/>
            <a:cxnLst/>
            <a:rect l="l" t="t" r="r" b="b"/>
            <a:pathLst>
              <a:path w="14566430" h="7738416">
                <a:moveTo>
                  <a:pt x="0" y="0"/>
                </a:moveTo>
                <a:lnTo>
                  <a:pt x="14566430" y="0"/>
                </a:lnTo>
                <a:lnTo>
                  <a:pt x="14566430" y="7738416"/>
                </a:lnTo>
                <a:lnTo>
                  <a:pt x="0" y="773841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NZ"/>
          </a:p>
        </p:txBody>
      </p:sp>
      <p:sp>
        <p:nvSpPr>
          <p:cNvPr id="5" name="TextBox 5">
            <a:extLst>
              <a:ext uri="{FF2B5EF4-FFF2-40B4-BE49-F238E27FC236}">
                <a16:creationId xmlns:a16="http://schemas.microsoft.com/office/drawing/2014/main" id="{993EE07A-3BB3-A8A9-CF31-12750889302B}"/>
              </a:ext>
            </a:extLst>
          </p:cNvPr>
          <p:cNvSpPr txBox="1">
            <a:spLocks noGrp="1" noRot="1" noMove="1" noResize="1" noEditPoints="1" noAdjustHandles="1" noChangeArrowheads="1" noChangeShapeType="1"/>
          </p:cNvSpPr>
          <p:nvPr/>
        </p:nvSpPr>
        <p:spPr>
          <a:xfrm>
            <a:off x="3200400" y="1943100"/>
            <a:ext cx="10229379" cy="3731791"/>
          </a:xfrm>
          <a:prstGeom prst="rect">
            <a:avLst/>
          </a:prstGeom>
        </p:spPr>
        <p:txBody>
          <a:bodyPr wrap="square" lIns="0" tIns="0" rIns="0" bIns="0" rtlCol="0" anchor="t">
            <a:spAutoFit/>
          </a:bodyPr>
          <a:lstStyle/>
          <a:p>
            <a:pPr algn="l">
              <a:lnSpc>
                <a:spcPts val="9719"/>
              </a:lnSpc>
            </a:pPr>
            <a:r>
              <a:rPr lang="en-US" sz="8099" dirty="0">
                <a:solidFill>
                  <a:srgbClr val="182230"/>
                </a:solidFill>
                <a:latin typeface="+mj-lt"/>
              </a:rPr>
              <a:t>To believe or not to believe, that is the question.</a:t>
            </a:r>
          </a:p>
        </p:txBody>
      </p:sp>
      <p:sp>
        <p:nvSpPr>
          <p:cNvPr id="7" name="Freeform 2">
            <a:extLst>
              <a:ext uri="{FF2B5EF4-FFF2-40B4-BE49-F238E27FC236}">
                <a16:creationId xmlns:a16="http://schemas.microsoft.com/office/drawing/2014/main" id="{F93B9F1E-F041-1E5F-0E67-6D99E3071FC0}"/>
              </a:ext>
            </a:extLst>
          </p:cNvPr>
          <p:cNvSpPr>
            <a:spLocks noGrp="1" noRot="1" noMove="1" noResize="1" noEditPoints="1" noAdjustHandles="1" noChangeArrowheads="1" noChangeShapeType="1"/>
          </p:cNvSpPr>
          <p:nvPr/>
        </p:nvSpPr>
        <p:spPr>
          <a:xfrm>
            <a:off x="5486400" y="5891972"/>
            <a:ext cx="4853316" cy="1613728"/>
          </a:xfrm>
          <a:custGeom>
            <a:avLst/>
            <a:gdLst/>
            <a:ahLst/>
            <a:cxnLst/>
            <a:rect l="l" t="t" r="r" b="b"/>
            <a:pathLst>
              <a:path w="12645864" h="4204750">
                <a:moveTo>
                  <a:pt x="0" y="0"/>
                </a:moveTo>
                <a:lnTo>
                  <a:pt x="12645864" y="0"/>
                </a:lnTo>
                <a:lnTo>
                  <a:pt x="12645864" y="4204750"/>
                </a:lnTo>
                <a:lnTo>
                  <a:pt x="0" y="42047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9" name="TextBox 8">
            <a:extLst>
              <a:ext uri="{FF2B5EF4-FFF2-40B4-BE49-F238E27FC236}">
                <a16:creationId xmlns:a16="http://schemas.microsoft.com/office/drawing/2014/main" id="{1221C83E-90EF-8B86-627A-6B0B39D05D88}"/>
              </a:ext>
            </a:extLst>
          </p:cNvPr>
          <p:cNvSpPr txBox="1">
            <a:spLocks noGrp="1" noRot="1" noMove="1" noResize="1" noEditPoints="1" noAdjustHandles="1" noChangeArrowheads="1" noChangeShapeType="1"/>
          </p:cNvSpPr>
          <p:nvPr/>
        </p:nvSpPr>
        <p:spPr>
          <a:xfrm rot="21573930">
            <a:off x="7392894" y="6048647"/>
            <a:ext cx="1658742" cy="400110"/>
          </a:xfrm>
          <a:prstGeom prst="rect">
            <a:avLst/>
          </a:prstGeom>
          <a:noFill/>
        </p:spPr>
        <p:txBody>
          <a:bodyPr wrap="square">
            <a:spAutoFit/>
          </a:bodyPr>
          <a:lstStyle/>
          <a:p>
            <a:r>
              <a:rPr lang="en-US" sz="2000" dirty="0">
                <a:solidFill>
                  <a:srgbClr val="182230"/>
                </a:solidFill>
                <a:latin typeface="+mj-lt"/>
              </a:rPr>
              <a:t>SMART</a:t>
            </a:r>
            <a:endParaRPr lang="en-NZ" sz="2000" dirty="0">
              <a:latin typeface="+mj-lt"/>
            </a:endParaRPr>
          </a:p>
        </p:txBody>
      </p:sp>
      <p:sp>
        <p:nvSpPr>
          <p:cNvPr id="6" name="Rectangle 5">
            <a:extLst>
              <a:ext uri="{FF2B5EF4-FFF2-40B4-BE49-F238E27FC236}">
                <a16:creationId xmlns:a16="http://schemas.microsoft.com/office/drawing/2014/main" id="{3CE6FCAC-B45B-544F-B880-632E45D36B77}"/>
              </a:ext>
            </a:extLst>
          </p:cNvPr>
          <p:cNvSpPr>
            <a:spLocks noGrp="1" noRot="1" noMove="1" noResize="1" noEditPoints="1" noAdjustHandles="1" noChangeArrowheads="1" noChangeShapeType="1"/>
          </p:cNvSpPr>
          <p:nvPr/>
        </p:nvSpPr>
        <p:spPr>
          <a:xfrm>
            <a:off x="14401800" y="8724900"/>
            <a:ext cx="3733800" cy="1371600"/>
          </a:xfrm>
          <a:prstGeom prst="rect">
            <a:avLst/>
          </a:prstGeom>
          <a:solidFill>
            <a:srgbClr val="3A54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pic>
        <p:nvPicPr>
          <p:cNvPr id="8" name="Picture 7" descr="A white text on a black background&#10;&#10;AI-generated content may be incorrect.">
            <a:extLst>
              <a:ext uri="{FF2B5EF4-FFF2-40B4-BE49-F238E27FC236}">
                <a16:creationId xmlns:a16="http://schemas.microsoft.com/office/drawing/2014/main" id="{D54F6ABB-2A94-96C1-CF0D-EBC15B0FB3D9}"/>
              </a:ext>
            </a:extLst>
          </p:cNvPr>
          <p:cNvPicPr>
            <a:picLocks noGrp="1" noRot="1" noChangeAspect="1" noMove="1" noResize="1" noEditPoints="1" noAdjustHandles="1" noChangeArrowheads="1" noChangeShapeType="1" noCrop="1"/>
          </p:cNvPicPr>
          <p:nvPr/>
        </p:nvPicPr>
        <p:blipFill>
          <a:blip r:embed="rId7" cstate="print">
            <a:extLst>
              <a:ext uri="{28A0092B-C50C-407E-A947-70E740481C1C}">
                <a14:useLocalDpi xmlns:a14="http://schemas.microsoft.com/office/drawing/2010/main" val="0"/>
              </a:ext>
            </a:extLst>
          </a:blip>
          <a:stretch>
            <a:fillRect/>
          </a:stretch>
        </p:blipFill>
        <p:spPr>
          <a:xfrm>
            <a:off x="14554200" y="8420100"/>
            <a:ext cx="3505200" cy="1648176"/>
          </a:xfrm>
          <a:prstGeom prst="rect">
            <a:avLst/>
          </a:prstGeom>
        </p:spPr>
      </p:pic>
    </p:spTree>
    <p:extLst>
      <p:ext uri="{BB962C8B-B14F-4D97-AF65-F5344CB8AC3E}">
        <p14:creationId xmlns:p14="http://schemas.microsoft.com/office/powerpoint/2010/main" val="1358756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9F0"/>
        </a:solidFill>
        <a:effectLst/>
      </p:bgPr>
    </p:bg>
    <p:spTree>
      <p:nvGrpSpPr>
        <p:cNvPr id="1" name=""/>
        <p:cNvGrpSpPr/>
        <p:nvPr/>
      </p:nvGrpSpPr>
      <p:grpSpPr>
        <a:xfrm>
          <a:off x="0" y="0"/>
          <a:ext cx="0" cy="0"/>
          <a:chOff x="0" y="0"/>
          <a:chExt cx="0" cy="0"/>
        </a:xfrm>
      </p:grpSpPr>
      <p:sp>
        <p:nvSpPr>
          <p:cNvPr id="2" name="TextBox 2"/>
          <p:cNvSpPr txBox="1">
            <a:spLocks noGrp="1" noRot="1" noMove="1" noResize="1" noEditPoints="1" noAdjustHandles="1" noChangeArrowheads="1" noChangeShapeType="1"/>
          </p:cNvSpPr>
          <p:nvPr/>
        </p:nvSpPr>
        <p:spPr>
          <a:xfrm>
            <a:off x="5954718" y="6592467"/>
            <a:ext cx="7502718" cy="1009614"/>
          </a:xfrm>
          <a:prstGeom prst="rect">
            <a:avLst/>
          </a:prstGeom>
        </p:spPr>
        <p:txBody>
          <a:bodyPr lIns="0" tIns="0" rIns="0" bIns="0" rtlCol="0" anchor="t">
            <a:spAutoFit/>
          </a:bodyPr>
          <a:lstStyle/>
          <a:p>
            <a:pPr algn="l">
              <a:lnSpc>
                <a:spcPts val="7920"/>
              </a:lnSpc>
            </a:pPr>
            <a:r>
              <a:rPr lang="en-US" sz="6600" dirty="0">
                <a:solidFill>
                  <a:srgbClr val="182230"/>
                </a:solidFill>
                <a:latin typeface="+mj-lt"/>
              </a:rPr>
              <a:t>S is for Source</a:t>
            </a:r>
          </a:p>
        </p:txBody>
      </p:sp>
      <p:sp>
        <p:nvSpPr>
          <p:cNvPr id="3" name="Freeform 3"/>
          <p:cNvSpPr>
            <a:spLocks noGrp="1" noRot="1" noMove="1" noResize="1" noEditPoints="1" noAdjustHandles="1" noChangeArrowheads="1" noChangeShapeType="1"/>
          </p:cNvSpPr>
          <p:nvPr/>
        </p:nvSpPr>
        <p:spPr>
          <a:xfrm rot="151781">
            <a:off x="1336231" y="2234266"/>
            <a:ext cx="14673103" cy="3503203"/>
          </a:xfrm>
          <a:custGeom>
            <a:avLst/>
            <a:gdLst/>
            <a:ahLst/>
            <a:cxnLst/>
            <a:rect l="l" t="t" r="r" b="b"/>
            <a:pathLst>
              <a:path w="14673103" h="3503203">
                <a:moveTo>
                  <a:pt x="0" y="0"/>
                </a:moveTo>
                <a:lnTo>
                  <a:pt x="14673103" y="0"/>
                </a:lnTo>
                <a:lnTo>
                  <a:pt x="14673103" y="3503204"/>
                </a:lnTo>
                <a:lnTo>
                  <a:pt x="0" y="35032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NZ"/>
          </a:p>
        </p:txBody>
      </p:sp>
      <p:sp>
        <p:nvSpPr>
          <p:cNvPr id="4" name="TextBox 4"/>
          <p:cNvSpPr txBox="1">
            <a:spLocks noGrp="1" noRot="1" noMove="1" noResize="1" noEditPoints="1" noAdjustHandles="1" noChangeArrowheads="1" noChangeShapeType="1"/>
          </p:cNvSpPr>
          <p:nvPr/>
        </p:nvSpPr>
        <p:spPr>
          <a:xfrm>
            <a:off x="6699250" y="2879113"/>
            <a:ext cx="8165354" cy="2667135"/>
          </a:xfrm>
          <a:prstGeom prst="rect">
            <a:avLst/>
          </a:prstGeom>
        </p:spPr>
        <p:txBody>
          <a:bodyPr lIns="0" tIns="0" rIns="0" bIns="0" rtlCol="0" anchor="t">
            <a:spAutoFit/>
          </a:bodyPr>
          <a:lstStyle/>
          <a:p>
            <a:pPr algn="l">
              <a:lnSpc>
                <a:spcPts val="21064"/>
              </a:lnSpc>
            </a:pPr>
            <a:r>
              <a:rPr lang="en-US" sz="17553">
                <a:solidFill>
                  <a:srgbClr val="FFFFFF"/>
                </a:solidFill>
                <a:latin typeface="+mj-lt"/>
              </a:rPr>
              <a:t>MART</a:t>
            </a:r>
          </a:p>
        </p:txBody>
      </p:sp>
      <p:sp>
        <p:nvSpPr>
          <p:cNvPr id="5" name="TextBox 5"/>
          <p:cNvSpPr txBox="1">
            <a:spLocks noGrp="1" noRot="1" noMove="1" noResize="1" noEditPoints="1" noAdjustHandles="1" noChangeArrowheads="1" noChangeShapeType="1"/>
          </p:cNvSpPr>
          <p:nvPr/>
        </p:nvSpPr>
        <p:spPr>
          <a:xfrm>
            <a:off x="4419600" y="1181100"/>
            <a:ext cx="2218125" cy="5289908"/>
          </a:xfrm>
          <a:prstGeom prst="rect">
            <a:avLst/>
          </a:prstGeom>
        </p:spPr>
        <p:txBody>
          <a:bodyPr lIns="0" tIns="0" rIns="0" bIns="0" rtlCol="0" anchor="t">
            <a:spAutoFit/>
          </a:bodyPr>
          <a:lstStyle/>
          <a:p>
            <a:pPr algn="ctr">
              <a:lnSpc>
                <a:spcPts val="43200"/>
              </a:lnSpc>
              <a:spcBef>
                <a:spcPct val="0"/>
              </a:spcBef>
            </a:pPr>
            <a:r>
              <a:rPr lang="en-US" sz="30857" dirty="0">
                <a:solidFill>
                  <a:srgbClr val="FC7373"/>
                </a:solidFill>
                <a:latin typeface="+mj-lt"/>
              </a:rPr>
              <a:t>S</a:t>
            </a:r>
          </a:p>
        </p:txBody>
      </p:sp>
      <p:sp>
        <p:nvSpPr>
          <p:cNvPr id="6" name="Freeform 6"/>
          <p:cNvSpPr>
            <a:spLocks noGrp="1" noRot="1" noMove="1" noResize="1" noEditPoints="1" noAdjustHandles="1" noChangeArrowheads="1" noChangeShapeType="1"/>
          </p:cNvSpPr>
          <p:nvPr/>
        </p:nvSpPr>
        <p:spPr>
          <a:xfrm>
            <a:off x="552518" y="1816909"/>
            <a:ext cx="3126814" cy="7649697"/>
          </a:xfrm>
          <a:custGeom>
            <a:avLst/>
            <a:gdLst/>
            <a:ahLst/>
            <a:cxnLst/>
            <a:rect l="l" t="t" r="r" b="b"/>
            <a:pathLst>
              <a:path w="3126814" h="7649697">
                <a:moveTo>
                  <a:pt x="0" y="0"/>
                </a:moveTo>
                <a:lnTo>
                  <a:pt x="3126814" y="0"/>
                </a:lnTo>
                <a:lnTo>
                  <a:pt x="3126814" y="7649697"/>
                </a:lnTo>
                <a:lnTo>
                  <a:pt x="0" y="76496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8" name="Freeform 8"/>
          <p:cNvSpPr>
            <a:spLocks noGrp="1" noRot="1" noMove="1" noResize="1" noEditPoints="1" noAdjustHandles="1" noChangeArrowheads="1" noChangeShapeType="1"/>
          </p:cNvSpPr>
          <p:nvPr/>
        </p:nvSpPr>
        <p:spPr>
          <a:xfrm>
            <a:off x="1654170" y="2682876"/>
            <a:ext cx="618836" cy="205763"/>
          </a:xfrm>
          <a:custGeom>
            <a:avLst/>
            <a:gdLst/>
            <a:ahLst/>
            <a:cxnLst/>
            <a:rect l="l" t="t" r="r" b="b"/>
            <a:pathLst>
              <a:path w="618836" h="205763">
                <a:moveTo>
                  <a:pt x="0" y="0"/>
                </a:moveTo>
                <a:lnTo>
                  <a:pt x="618836" y="0"/>
                </a:lnTo>
                <a:lnTo>
                  <a:pt x="618836" y="205762"/>
                </a:lnTo>
                <a:lnTo>
                  <a:pt x="0" y="2057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NZ"/>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9F0"/>
        </a:solidFill>
        <a:effectLst/>
      </p:bgPr>
    </p:bg>
    <p:spTree>
      <p:nvGrpSpPr>
        <p:cNvPr id="1" name=""/>
        <p:cNvGrpSpPr/>
        <p:nvPr/>
      </p:nvGrpSpPr>
      <p:grpSpPr>
        <a:xfrm>
          <a:off x="0" y="0"/>
          <a:ext cx="0" cy="0"/>
          <a:chOff x="0" y="0"/>
          <a:chExt cx="0" cy="0"/>
        </a:xfrm>
      </p:grpSpPr>
      <p:sp>
        <p:nvSpPr>
          <p:cNvPr id="2" name="TextBox 2"/>
          <p:cNvSpPr txBox="1">
            <a:spLocks noGrp="1" noRot="1" noMove="1" noResize="1" noEditPoints="1" noAdjustHandles="1" noChangeArrowheads="1" noChangeShapeType="1"/>
          </p:cNvSpPr>
          <p:nvPr/>
        </p:nvSpPr>
        <p:spPr>
          <a:xfrm>
            <a:off x="8576777" y="6429354"/>
            <a:ext cx="7502718" cy="1009614"/>
          </a:xfrm>
          <a:prstGeom prst="rect">
            <a:avLst/>
          </a:prstGeom>
        </p:spPr>
        <p:txBody>
          <a:bodyPr lIns="0" tIns="0" rIns="0" bIns="0" rtlCol="0" anchor="t">
            <a:spAutoFit/>
          </a:bodyPr>
          <a:lstStyle/>
          <a:p>
            <a:pPr algn="l">
              <a:lnSpc>
                <a:spcPts val="7920"/>
              </a:lnSpc>
            </a:pPr>
            <a:r>
              <a:rPr lang="en-US" sz="6600" dirty="0">
                <a:solidFill>
                  <a:srgbClr val="182230"/>
                </a:solidFill>
                <a:latin typeface="+mj-lt"/>
              </a:rPr>
              <a:t>M is for Motive</a:t>
            </a:r>
          </a:p>
        </p:txBody>
      </p:sp>
      <p:sp>
        <p:nvSpPr>
          <p:cNvPr id="3" name="Freeform 3"/>
          <p:cNvSpPr>
            <a:spLocks noGrp="1" noRot="1" noMove="1" noResize="1" noEditPoints="1" noAdjustHandles="1" noChangeArrowheads="1" noChangeShapeType="1"/>
          </p:cNvSpPr>
          <p:nvPr/>
        </p:nvSpPr>
        <p:spPr>
          <a:xfrm rot="151781">
            <a:off x="1336231" y="2234266"/>
            <a:ext cx="14673103" cy="3503203"/>
          </a:xfrm>
          <a:custGeom>
            <a:avLst/>
            <a:gdLst/>
            <a:ahLst/>
            <a:cxnLst/>
            <a:rect l="l" t="t" r="r" b="b"/>
            <a:pathLst>
              <a:path w="14673103" h="3503203">
                <a:moveTo>
                  <a:pt x="0" y="0"/>
                </a:moveTo>
                <a:lnTo>
                  <a:pt x="14673103" y="0"/>
                </a:lnTo>
                <a:lnTo>
                  <a:pt x="14673103" y="3503204"/>
                </a:lnTo>
                <a:lnTo>
                  <a:pt x="0" y="35032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NZ"/>
          </a:p>
        </p:txBody>
      </p:sp>
      <p:sp>
        <p:nvSpPr>
          <p:cNvPr id="4" name="TextBox 4"/>
          <p:cNvSpPr txBox="1">
            <a:spLocks noGrp="1" noRot="1" noMove="1" noResize="1" noEditPoints="1" noAdjustHandles="1" noChangeArrowheads="1" noChangeShapeType="1"/>
          </p:cNvSpPr>
          <p:nvPr/>
        </p:nvSpPr>
        <p:spPr>
          <a:xfrm>
            <a:off x="4140156" y="2879113"/>
            <a:ext cx="10807788" cy="2667135"/>
          </a:xfrm>
          <a:prstGeom prst="rect">
            <a:avLst/>
          </a:prstGeom>
        </p:spPr>
        <p:txBody>
          <a:bodyPr lIns="0" tIns="0" rIns="0" bIns="0" rtlCol="0" anchor="t">
            <a:spAutoFit/>
          </a:bodyPr>
          <a:lstStyle/>
          <a:p>
            <a:pPr algn="l">
              <a:lnSpc>
                <a:spcPts val="21064"/>
              </a:lnSpc>
            </a:pPr>
            <a:r>
              <a:rPr lang="en-US" sz="17553" dirty="0">
                <a:solidFill>
                  <a:srgbClr val="FFFFFF"/>
                </a:solidFill>
                <a:latin typeface="+mj-lt"/>
              </a:rPr>
              <a:t>S     ART</a:t>
            </a:r>
          </a:p>
        </p:txBody>
      </p:sp>
      <p:sp>
        <p:nvSpPr>
          <p:cNvPr id="5" name="TextBox 5"/>
          <p:cNvSpPr txBox="1">
            <a:spLocks noGrp="1" noRot="1" noMove="1" noResize="1" noEditPoints="1" noAdjustHandles="1" noChangeArrowheads="1" noChangeShapeType="1"/>
          </p:cNvSpPr>
          <p:nvPr/>
        </p:nvSpPr>
        <p:spPr>
          <a:xfrm>
            <a:off x="5257800" y="1257300"/>
            <a:ext cx="3695519" cy="5289908"/>
          </a:xfrm>
          <a:prstGeom prst="rect">
            <a:avLst/>
          </a:prstGeom>
        </p:spPr>
        <p:txBody>
          <a:bodyPr lIns="0" tIns="0" rIns="0" bIns="0" rtlCol="0" anchor="t">
            <a:spAutoFit/>
          </a:bodyPr>
          <a:lstStyle/>
          <a:p>
            <a:pPr algn="ctr">
              <a:lnSpc>
                <a:spcPts val="43200"/>
              </a:lnSpc>
              <a:spcBef>
                <a:spcPct val="0"/>
              </a:spcBef>
            </a:pPr>
            <a:r>
              <a:rPr lang="en-US" sz="30857" dirty="0">
                <a:solidFill>
                  <a:srgbClr val="FC7373"/>
                </a:solidFill>
                <a:latin typeface="+mj-lt"/>
              </a:rPr>
              <a:t>M</a:t>
            </a:r>
          </a:p>
        </p:txBody>
      </p:sp>
      <p:sp>
        <p:nvSpPr>
          <p:cNvPr id="6" name="Freeform 6"/>
          <p:cNvSpPr>
            <a:spLocks noGrp="1" noRot="1" noMove="1" noResize="1" noEditPoints="1" noAdjustHandles="1" noChangeArrowheads="1" noChangeShapeType="1"/>
          </p:cNvSpPr>
          <p:nvPr/>
        </p:nvSpPr>
        <p:spPr>
          <a:xfrm>
            <a:off x="255547" y="4150776"/>
            <a:ext cx="7095016" cy="5117280"/>
          </a:xfrm>
          <a:custGeom>
            <a:avLst/>
            <a:gdLst/>
            <a:ahLst/>
            <a:cxnLst/>
            <a:rect l="l" t="t" r="r" b="b"/>
            <a:pathLst>
              <a:path w="7095016" h="5117280">
                <a:moveTo>
                  <a:pt x="0" y="0"/>
                </a:moveTo>
                <a:lnTo>
                  <a:pt x="7095017" y="0"/>
                </a:lnTo>
                <a:lnTo>
                  <a:pt x="7095017" y="5117280"/>
                </a:lnTo>
                <a:lnTo>
                  <a:pt x="0" y="511728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8" name="Freeform 8"/>
          <p:cNvSpPr>
            <a:spLocks noGrp="1" noRot="1" noMove="1" noResize="1" noEditPoints="1" noAdjustHandles="1" noChangeArrowheads="1" noChangeShapeType="1"/>
          </p:cNvSpPr>
          <p:nvPr/>
        </p:nvSpPr>
        <p:spPr>
          <a:xfrm rot="540439">
            <a:off x="2949631" y="5397635"/>
            <a:ext cx="618836" cy="205763"/>
          </a:xfrm>
          <a:custGeom>
            <a:avLst/>
            <a:gdLst/>
            <a:ahLst/>
            <a:cxnLst/>
            <a:rect l="l" t="t" r="r" b="b"/>
            <a:pathLst>
              <a:path w="618836" h="205763">
                <a:moveTo>
                  <a:pt x="0" y="0"/>
                </a:moveTo>
                <a:lnTo>
                  <a:pt x="618836" y="0"/>
                </a:lnTo>
                <a:lnTo>
                  <a:pt x="618836" y="205763"/>
                </a:lnTo>
                <a:lnTo>
                  <a:pt x="0" y="20576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NZ"/>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9F0"/>
        </a:solidFill>
        <a:effectLst/>
      </p:bgPr>
    </p:bg>
    <p:spTree>
      <p:nvGrpSpPr>
        <p:cNvPr id="1" name=""/>
        <p:cNvGrpSpPr/>
        <p:nvPr/>
      </p:nvGrpSpPr>
      <p:grpSpPr>
        <a:xfrm>
          <a:off x="0" y="0"/>
          <a:ext cx="0" cy="0"/>
          <a:chOff x="0" y="0"/>
          <a:chExt cx="0" cy="0"/>
        </a:xfrm>
      </p:grpSpPr>
      <p:sp>
        <p:nvSpPr>
          <p:cNvPr id="2" name="TextBox 2"/>
          <p:cNvSpPr txBox="1">
            <a:spLocks noGrp="1" noRot="1" noMove="1" noResize="1" noEditPoints="1" noAdjustHandles="1" noChangeArrowheads="1" noChangeShapeType="1"/>
          </p:cNvSpPr>
          <p:nvPr/>
        </p:nvSpPr>
        <p:spPr>
          <a:xfrm>
            <a:off x="8314422" y="6440228"/>
            <a:ext cx="7502718" cy="1009614"/>
          </a:xfrm>
          <a:prstGeom prst="rect">
            <a:avLst/>
          </a:prstGeom>
        </p:spPr>
        <p:txBody>
          <a:bodyPr lIns="0" tIns="0" rIns="0" bIns="0" rtlCol="0" anchor="t">
            <a:spAutoFit/>
          </a:bodyPr>
          <a:lstStyle/>
          <a:p>
            <a:pPr algn="l">
              <a:lnSpc>
                <a:spcPts val="7920"/>
              </a:lnSpc>
            </a:pPr>
            <a:r>
              <a:rPr lang="en-US" sz="6600" dirty="0">
                <a:solidFill>
                  <a:srgbClr val="182230"/>
                </a:solidFill>
                <a:latin typeface="+mj-lt"/>
              </a:rPr>
              <a:t>A is for Authority</a:t>
            </a:r>
          </a:p>
        </p:txBody>
      </p:sp>
      <p:sp>
        <p:nvSpPr>
          <p:cNvPr id="3" name="Freeform 3"/>
          <p:cNvSpPr>
            <a:spLocks noGrp="1" noRot="1" noMove="1" noResize="1" noEditPoints="1" noAdjustHandles="1" noChangeArrowheads="1" noChangeShapeType="1"/>
          </p:cNvSpPr>
          <p:nvPr/>
        </p:nvSpPr>
        <p:spPr>
          <a:xfrm rot="151781">
            <a:off x="1336231" y="2234266"/>
            <a:ext cx="14673103" cy="3503203"/>
          </a:xfrm>
          <a:custGeom>
            <a:avLst/>
            <a:gdLst/>
            <a:ahLst/>
            <a:cxnLst/>
            <a:rect l="l" t="t" r="r" b="b"/>
            <a:pathLst>
              <a:path w="14673103" h="3503203">
                <a:moveTo>
                  <a:pt x="0" y="0"/>
                </a:moveTo>
                <a:lnTo>
                  <a:pt x="14673103" y="0"/>
                </a:lnTo>
                <a:lnTo>
                  <a:pt x="14673103" y="3503204"/>
                </a:lnTo>
                <a:lnTo>
                  <a:pt x="0" y="35032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NZ"/>
          </a:p>
        </p:txBody>
      </p:sp>
      <p:sp>
        <p:nvSpPr>
          <p:cNvPr id="4" name="TextBox 4"/>
          <p:cNvSpPr txBox="1">
            <a:spLocks noGrp="1" noRot="1" noMove="1" noResize="1" noEditPoints="1" noAdjustHandles="1" noChangeArrowheads="1" noChangeShapeType="1"/>
          </p:cNvSpPr>
          <p:nvPr/>
        </p:nvSpPr>
        <p:spPr>
          <a:xfrm>
            <a:off x="3997281" y="2879113"/>
            <a:ext cx="10807788" cy="2667135"/>
          </a:xfrm>
          <a:prstGeom prst="rect">
            <a:avLst/>
          </a:prstGeom>
        </p:spPr>
        <p:txBody>
          <a:bodyPr lIns="0" tIns="0" rIns="0" bIns="0" rtlCol="0" anchor="t">
            <a:spAutoFit/>
          </a:bodyPr>
          <a:lstStyle/>
          <a:p>
            <a:pPr algn="l">
              <a:lnSpc>
                <a:spcPts val="21064"/>
              </a:lnSpc>
            </a:pPr>
            <a:r>
              <a:rPr lang="en-US" sz="17553" dirty="0">
                <a:solidFill>
                  <a:srgbClr val="FFFFFF"/>
                </a:solidFill>
                <a:latin typeface="+mj-lt"/>
              </a:rPr>
              <a:t>SM    RT</a:t>
            </a:r>
          </a:p>
        </p:txBody>
      </p:sp>
      <p:sp>
        <p:nvSpPr>
          <p:cNvPr id="5" name="TextBox 5"/>
          <p:cNvSpPr txBox="1">
            <a:spLocks noGrp="1" noRot="1" noMove="1" noResize="1" noEditPoints="1" noAdjustHandles="1" noChangeArrowheads="1" noChangeShapeType="1"/>
          </p:cNvSpPr>
          <p:nvPr/>
        </p:nvSpPr>
        <p:spPr>
          <a:xfrm>
            <a:off x="7329827" y="1225192"/>
            <a:ext cx="2433617" cy="5289908"/>
          </a:xfrm>
          <a:prstGeom prst="rect">
            <a:avLst/>
          </a:prstGeom>
        </p:spPr>
        <p:txBody>
          <a:bodyPr lIns="0" tIns="0" rIns="0" bIns="0" rtlCol="0" anchor="t">
            <a:spAutoFit/>
          </a:bodyPr>
          <a:lstStyle/>
          <a:p>
            <a:pPr algn="ctr">
              <a:lnSpc>
                <a:spcPts val="43200"/>
              </a:lnSpc>
              <a:spcBef>
                <a:spcPct val="0"/>
              </a:spcBef>
            </a:pPr>
            <a:r>
              <a:rPr lang="en-US" sz="30857" dirty="0">
                <a:solidFill>
                  <a:srgbClr val="FC7373"/>
                </a:solidFill>
                <a:latin typeface="+mj-lt"/>
              </a:rPr>
              <a:t>A</a:t>
            </a:r>
          </a:p>
        </p:txBody>
      </p:sp>
      <p:sp>
        <p:nvSpPr>
          <p:cNvPr id="6" name="Freeform 6"/>
          <p:cNvSpPr>
            <a:spLocks noGrp="1" noRot="1" noMove="1" noResize="1" noEditPoints="1" noAdjustHandles="1" noChangeArrowheads="1" noChangeShapeType="1"/>
          </p:cNvSpPr>
          <p:nvPr/>
        </p:nvSpPr>
        <p:spPr>
          <a:xfrm>
            <a:off x="611359" y="6059577"/>
            <a:ext cx="7451886" cy="4545650"/>
          </a:xfrm>
          <a:custGeom>
            <a:avLst/>
            <a:gdLst/>
            <a:ahLst/>
            <a:cxnLst/>
            <a:rect l="l" t="t" r="r" b="b"/>
            <a:pathLst>
              <a:path w="7451886" h="4545650">
                <a:moveTo>
                  <a:pt x="0" y="0"/>
                </a:moveTo>
                <a:lnTo>
                  <a:pt x="7451886" y="0"/>
                </a:lnTo>
                <a:lnTo>
                  <a:pt x="7451886" y="4545651"/>
                </a:lnTo>
                <a:lnTo>
                  <a:pt x="0" y="45456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8" name="Freeform 8"/>
          <p:cNvSpPr>
            <a:spLocks noGrp="1" noRot="1" noMove="1" noResize="1" noEditPoints="1" noAdjustHandles="1" noChangeArrowheads="1" noChangeShapeType="1"/>
          </p:cNvSpPr>
          <p:nvPr/>
        </p:nvSpPr>
        <p:spPr>
          <a:xfrm>
            <a:off x="5579761" y="7108680"/>
            <a:ext cx="618836" cy="205763"/>
          </a:xfrm>
          <a:custGeom>
            <a:avLst/>
            <a:gdLst/>
            <a:ahLst/>
            <a:cxnLst/>
            <a:rect l="l" t="t" r="r" b="b"/>
            <a:pathLst>
              <a:path w="618836" h="205763">
                <a:moveTo>
                  <a:pt x="0" y="0"/>
                </a:moveTo>
                <a:lnTo>
                  <a:pt x="618836" y="0"/>
                </a:lnTo>
                <a:lnTo>
                  <a:pt x="618836" y="205763"/>
                </a:lnTo>
                <a:lnTo>
                  <a:pt x="0" y="20576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NZ"/>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9F0"/>
        </a:solidFill>
        <a:effectLst/>
      </p:bgPr>
    </p:bg>
    <p:spTree>
      <p:nvGrpSpPr>
        <p:cNvPr id="1" name=""/>
        <p:cNvGrpSpPr/>
        <p:nvPr/>
      </p:nvGrpSpPr>
      <p:grpSpPr>
        <a:xfrm>
          <a:off x="0" y="0"/>
          <a:ext cx="0" cy="0"/>
          <a:chOff x="0" y="0"/>
          <a:chExt cx="0" cy="0"/>
        </a:xfrm>
      </p:grpSpPr>
      <p:grpSp>
        <p:nvGrpSpPr>
          <p:cNvPr id="2" name="Group 2"/>
          <p:cNvGrpSpPr/>
          <p:nvPr/>
        </p:nvGrpSpPr>
        <p:grpSpPr>
          <a:xfrm>
            <a:off x="-113105" y="0"/>
            <a:ext cx="9257105" cy="10287000"/>
            <a:chOff x="0" y="0"/>
            <a:chExt cx="2438085" cy="2709333"/>
          </a:xfrm>
        </p:grpSpPr>
        <p:sp>
          <p:nvSpPr>
            <p:cNvPr id="3" name="Freeform 3"/>
            <p:cNvSpPr/>
            <p:nvPr/>
          </p:nvSpPr>
          <p:spPr>
            <a:xfrm>
              <a:off x="0" y="0"/>
              <a:ext cx="2438085" cy="2709333"/>
            </a:xfrm>
            <a:custGeom>
              <a:avLst/>
              <a:gdLst/>
              <a:ahLst/>
              <a:cxnLst/>
              <a:rect l="l" t="t" r="r" b="b"/>
              <a:pathLst>
                <a:path w="2438085" h="2709333">
                  <a:moveTo>
                    <a:pt x="0" y="0"/>
                  </a:moveTo>
                  <a:lnTo>
                    <a:pt x="2438085" y="0"/>
                  </a:lnTo>
                  <a:lnTo>
                    <a:pt x="2438085" y="2709333"/>
                  </a:lnTo>
                  <a:lnTo>
                    <a:pt x="0" y="2709333"/>
                  </a:lnTo>
                  <a:close/>
                </a:path>
              </a:pathLst>
            </a:custGeom>
            <a:solidFill>
              <a:srgbClr val="D4F1D8"/>
            </a:solidFill>
          </p:spPr>
          <p:txBody>
            <a:bodyPr/>
            <a:lstStyle/>
            <a:p>
              <a:endParaRPr lang="en-NZ"/>
            </a:p>
          </p:txBody>
        </p:sp>
        <p:sp>
          <p:nvSpPr>
            <p:cNvPr id="4" name="TextBox 4"/>
            <p:cNvSpPr txBox="1"/>
            <p:nvPr/>
          </p:nvSpPr>
          <p:spPr>
            <a:xfrm>
              <a:off x="0" y="-57150"/>
              <a:ext cx="2438085" cy="2766483"/>
            </a:xfrm>
            <a:prstGeom prst="rect">
              <a:avLst/>
            </a:prstGeom>
          </p:spPr>
          <p:txBody>
            <a:bodyPr lIns="50800" tIns="50800" rIns="50800" bIns="50800" rtlCol="0" anchor="ctr"/>
            <a:lstStyle/>
            <a:p>
              <a:pPr algn="ctr">
                <a:lnSpc>
                  <a:spcPts val="2659"/>
                </a:lnSpc>
              </a:pPr>
              <a:endParaRPr/>
            </a:p>
          </p:txBody>
        </p:sp>
      </p:grpSp>
      <p:sp>
        <p:nvSpPr>
          <p:cNvPr id="5" name="Freeform 5"/>
          <p:cNvSpPr>
            <a:spLocks noGrp="1" noRot="1" noMove="1" noResize="1" noEditPoints="1" noAdjustHandles="1" noChangeArrowheads="1" noChangeShapeType="1"/>
          </p:cNvSpPr>
          <p:nvPr/>
        </p:nvSpPr>
        <p:spPr>
          <a:xfrm>
            <a:off x="1775840" y="1105336"/>
            <a:ext cx="5579726" cy="3492821"/>
          </a:xfrm>
          <a:custGeom>
            <a:avLst/>
            <a:gdLst/>
            <a:ahLst/>
            <a:cxnLst/>
            <a:rect l="l" t="t" r="r" b="b"/>
            <a:pathLst>
              <a:path w="5579726" h="3492821">
                <a:moveTo>
                  <a:pt x="0" y="0"/>
                </a:moveTo>
                <a:lnTo>
                  <a:pt x="5579726" y="0"/>
                </a:lnTo>
                <a:lnTo>
                  <a:pt x="5579726" y="3492821"/>
                </a:lnTo>
                <a:lnTo>
                  <a:pt x="0" y="34928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NZ"/>
          </a:p>
        </p:txBody>
      </p:sp>
      <p:sp>
        <p:nvSpPr>
          <p:cNvPr id="6" name="Freeform 6"/>
          <p:cNvSpPr>
            <a:spLocks noGrp="1" noRot="1" noMove="1" noResize="1" noEditPoints="1" noAdjustHandles="1" noChangeArrowheads="1" noChangeShapeType="1"/>
          </p:cNvSpPr>
          <p:nvPr/>
        </p:nvSpPr>
        <p:spPr>
          <a:xfrm>
            <a:off x="10754807" y="1105336"/>
            <a:ext cx="5579726" cy="3492821"/>
          </a:xfrm>
          <a:custGeom>
            <a:avLst/>
            <a:gdLst/>
            <a:ahLst/>
            <a:cxnLst/>
            <a:rect l="l" t="t" r="r" b="b"/>
            <a:pathLst>
              <a:path w="5579726" h="3492821">
                <a:moveTo>
                  <a:pt x="0" y="0"/>
                </a:moveTo>
                <a:lnTo>
                  <a:pt x="5579727" y="0"/>
                </a:lnTo>
                <a:lnTo>
                  <a:pt x="5579727" y="3492821"/>
                </a:lnTo>
                <a:lnTo>
                  <a:pt x="0" y="349282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7" name="TextBox 7"/>
          <p:cNvSpPr txBox="1">
            <a:spLocks noGrp="1" noRot="1" noMove="1" noResize="1" noEditPoints="1" noAdjustHandles="1" noChangeArrowheads="1" noChangeShapeType="1"/>
          </p:cNvSpPr>
          <p:nvPr/>
        </p:nvSpPr>
        <p:spPr>
          <a:xfrm>
            <a:off x="1549562" y="2077877"/>
            <a:ext cx="5579726" cy="1566477"/>
          </a:xfrm>
          <a:prstGeom prst="rect">
            <a:avLst/>
          </a:prstGeom>
        </p:spPr>
        <p:txBody>
          <a:bodyPr lIns="0" tIns="0" rIns="0" bIns="0" rtlCol="0" anchor="t">
            <a:spAutoFit/>
          </a:bodyPr>
          <a:lstStyle/>
          <a:p>
            <a:pPr algn="ctr">
              <a:lnSpc>
                <a:spcPts val="12880"/>
              </a:lnSpc>
            </a:pPr>
            <a:r>
              <a:rPr lang="en-US" sz="9200" dirty="0">
                <a:solidFill>
                  <a:srgbClr val="000000"/>
                </a:solidFill>
                <a:latin typeface="+mj-lt"/>
              </a:rPr>
              <a:t>Fact</a:t>
            </a:r>
          </a:p>
        </p:txBody>
      </p:sp>
      <p:sp>
        <p:nvSpPr>
          <p:cNvPr id="8" name="TextBox 8"/>
          <p:cNvSpPr txBox="1">
            <a:spLocks noGrp="1" noRot="1" noMove="1" noResize="1" noEditPoints="1" noAdjustHandles="1" noChangeArrowheads="1" noChangeShapeType="1"/>
          </p:cNvSpPr>
          <p:nvPr/>
        </p:nvSpPr>
        <p:spPr>
          <a:xfrm>
            <a:off x="10754807" y="2077877"/>
            <a:ext cx="5579726" cy="1566477"/>
          </a:xfrm>
          <a:prstGeom prst="rect">
            <a:avLst/>
          </a:prstGeom>
        </p:spPr>
        <p:txBody>
          <a:bodyPr lIns="0" tIns="0" rIns="0" bIns="0" rtlCol="0" anchor="t">
            <a:spAutoFit/>
          </a:bodyPr>
          <a:lstStyle/>
          <a:p>
            <a:pPr algn="ctr">
              <a:lnSpc>
                <a:spcPts val="12880"/>
              </a:lnSpc>
            </a:pPr>
            <a:r>
              <a:rPr lang="en-US" sz="9200" dirty="0">
                <a:solidFill>
                  <a:srgbClr val="000000"/>
                </a:solidFill>
                <a:latin typeface="+mj-lt"/>
              </a:rPr>
              <a:t>Opinion</a:t>
            </a:r>
          </a:p>
        </p:txBody>
      </p:sp>
      <p:sp>
        <p:nvSpPr>
          <p:cNvPr id="9" name="TextBox 9"/>
          <p:cNvSpPr txBox="1">
            <a:spLocks noGrp="1" noRot="1" noMove="1" noResize="1" noEditPoints="1" noAdjustHandles="1" noChangeArrowheads="1" noChangeShapeType="1"/>
          </p:cNvSpPr>
          <p:nvPr/>
        </p:nvSpPr>
        <p:spPr>
          <a:xfrm>
            <a:off x="1775841" y="5082812"/>
            <a:ext cx="5417916" cy="3156505"/>
          </a:xfrm>
          <a:prstGeom prst="rect">
            <a:avLst/>
          </a:prstGeom>
        </p:spPr>
        <p:txBody>
          <a:bodyPr wrap="square" lIns="0" tIns="0" rIns="0" bIns="0" rtlCol="0" anchor="t">
            <a:spAutoFit/>
          </a:bodyPr>
          <a:lstStyle/>
          <a:p>
            <a:pPr marL="777230" lvl="1" indent="-388615">
              <a:lnSpc>
                <a:spcPts val="5039"/>
              </a:lnSpc>
              <a:buFont typeface="Arial"/>
              <a:buChar char="•"/>
            </a:pPr>
            <a:r>
              <a:rPr lang="en-US" sz="3599" dirty="0">
                <a:solidFill>
                  <a:srgbClr val="000000"/>
                </a:solidFill>
                <a:latin typeface="+mj-lt"/>
              </a:rPr>
              <a:t>Based on research/ </a:t>
            </a:r>
          </a:p>
          <a:p>
            <a:pPr>
              <a:lnSpc>
                <a:spcPts val="5039"/>
              </a:lnSpc>
            </a:pPr>
            <a:r>
              <a:rPr lang="en-US" sz="3599" dirty="0">
                <a:solidFill>
                  <a:srgbClr val="000000"/>
                </a:solidFill>
                <a:latin typeface="+mj-lt"/>
              </a:rPr>
              <a:t>      observation</a:t>
            </a:r>
          </a:p>
          <a:p>
            <a:pPr>
              <a:lnSpc>
                <a:spcPts val="5039"/>
              </a:lnSpc>
            </a:pPr>
            <a:endParaRPr lang="en-US" sz="3599" dirty="0">
              <a:solidFill>
                <a:srgbClr val="000000"/>
              </a:solidFill>
              <a:latin typeface="+mj-lt"/>
            </a:endParaRPr>
          </a:p>
          <a:p>
            <a:pPr marL="1028700" lvl="1" indent="-571500">
              <a:lnSpc>
                <a:spcPts val="5039"/>
              </a:lnSpc>
              <a:buFont typeface="Arial" panose="020B0604020202020204" pitchFamily="34" charset="0"/>
              <a:buChar char="•"/>
            </a:pPr>
            <a:r>
              <a:rPr lang="en-US" sz="3599" dirty="0">
                <a:solidFill>
                  <a:srgbClr val="000000"/>
                </a:solidFill>
                <a:latin typeface="+mj-lt"/>
              </a:rPr>
              <a:t>Can prove</a:t>
            </a:r>
          </a:p>
          <a:p>
            <a:pPr>
              <a:lnSpc>
                <a:spcPts val="5039"/>
              </a:lnSpc>
            </a:pPr>
            <a:endParaRPr lang="en-US" sz="3599" dirty="0">
              <a:solidFill>
                <a:srgbClr val="000000"/>
              </a:solidFill>
              <a:latin typeface="+mj-lt"/>
            </a:endParaRPr>
          </a:p>
        </p:txBody>
      </p:sp>
      <p:sp>
        <p:nvSpPr>
          <p:cNvPr id="10" name="TextBox 10"/>
          <p:cNvSpPr txBox="1">
            <a:spLocks noGrp="1" noRot="1" noMove="1" noResize="1" noEditPoints="1" noAdjustHandles="1" noChangeArrowheads="1" noChangeShapeType="1"/>
          </p:cNvSpPr>
          <p:nvPr/>
        </p:nvSpPr>
        <p:spPr>
          <a:xfrm>
            <a:off x="11412874" y="5082812"/>
            <a:ext cx="5579726" cy="3792385"/>
          </a:xfrm>
          <a:prstGeom prst="rect">
            <a:avLst/>
          </a:prstGeom>
        </p:spPr>
        <p:txBody>
          <a:bodyPr wrap="square" lIns="0" tIns="0" rIns="0" bIns="0" rtlCol="0" anchor="t">
            <a:spAutoFit/>
          </a:bodyPr>
          <a:lstStyle/>
          <a:p>
            <a:pPr marL="777230" lvl="1" indent="-388615">
              <a:lnSpc>
                <a:spcPts val="5039"/>
              </a:lnSpc>
              <a:buFont typeface="Arial"/>
              <a:buChar char="•"/>
            </a:pPr>
            <a:r>
              <a:rPr lang="en-US" sz="3599" dirty="0">
                <a:solidFill>
                  <a:srgbClr val="000000"/>
                </a:solidFill>
                <a:latin typeface="+mj-lt"/>
              </a:rPr>
              <a:t>Based on belief/ </a:t>
            </a:r>
          </a:p>
          <a:p>
            <a:pPr>
              <a:lnSpc>
                <a:spcPts val="5039"/>
              </a:lnSpc>
            </a:pPr>
            <a:r>
              <a:rPr lang="en-US" sz="3599" dirty="0">
                <a:solidFill>
                  <a:srgbClr val="000000"/>
                </a:solidFill>
                <a:latin typeface="+mj-lt"/>
              </a:rPr>
              <a:t>      judgement</a:t>
            </a:r>
          </a:p>
          <a:p>
            <a:pPr>
              <a:lnSpc>
                <a:spcPts val="5039"/>
              </a:lnSpc>
            </a:pPr>
            <a:endParaRPr lang="en-US" sz="3599" dirty="0">
              <a:solidFill>
                <a:srgbClr val="000000"/>
              </a:solidFill>
              <a:latin typeface="+mj-lt"/>
            </a:endParaRPr>
          </a:p>
          <a:p>
            <a:pPr marL="1028700" lvl="1" indent="-571500">
              <a:lnSpc>
                <a:spcPts val="5039"/>
              </a:lnSpc>
              <a:buFont typeface="Arial" panose="020B0604020202020204" pitchFamily="34" charset="0"/>
              <a:buChar char="•"/>
            </a:pPr>
            <a:r>
              <a:rPr lang="en-US" sz="3599" dirty="0">
                <a:solidFill>
                  <a:srgbClr val="000000"/>
                </a:solidFill>
                <a:latin typeface="+mj-lt"/>
              </a:rPr>
              <a:t>Probably can’t prove</a:t>
            </a:r>
          </a:p>
          <a:p>
            <a:pPr marL="571500" indent="-571500">
              <a:lnSpc>
                <a:spcPts val="5039"/>
              </a:lnSpc>
              <a:buFont typeface="Arial" panose="020B0604020202020204" pitchFamily="34" charset="0"/>
              <a:buChar char="•"/>
            </a:pPr>
            <a:endParaRPr lang="en-US" sz="3599" dirty="0">
              <a:solidFill>
                <a:srgbClr val="000000"/>
              </a:solidFill>
              <a:latin typeface="+mj-lt"/>
            </a:endParaRPr>
          </a:p>
        </p:txBody>
      </p:sp>
      <p:sp>
        <p:nvSpPr>
          <p:cNvPr id="11" name="Freeform 11"/>
          <p:cNvSpPr>
            <a:spLocks noGrp="1" noRot="1" noMove="1" noResize="1" noEditPoints="1" noAdjustHandles="1" noChangeArrowheads="1" noChangeShapeType="1"/>
          </p:cNvSpPr>
          <p:nvPr/>
        </p:nvSpPr>
        <p:spPr>
          <a:xfrm flipH="1">
            <a:off x="5943600" y="6369664"/>
            <a:ext cx="6724875" cy="6761758"/>
          </a:xfrm>
          <a:custGeom>
            <a:avLst/>
            <a:gdLst/>
            <a:ahLst/>
            <a:cxnLst/>
            <a:rect l="l" t="t" r="r" b="b"/>
            <a:pathLst>
              <a:path w="6724875" h="6761758">
                <a:moveTo>
                  <a:pt x="6724876" y="0"/>
                </a:moveTo>
                <a:lnTo>
                  <a:pt x="0" y="0"/>
                </a:lnTo>
                <a:lnTo>
                  <a:pt x="0" y="6761758"/>
                </a:lnTo>
                <a:lnTo>
                  <a:pt x="6724876" y="6761758"/>
                </a:lnTo>
                <a:lnTo>
                  <a:pt x="6724876"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NZ"/>
          </a:p>
        </p:txBody>
      </p:sp>
      <p:sp>
        <p:nvSpPr>
          <p:cNvPr id="13" name="Freeform 8">
            <a:extLst>
              <a:ext uri="{FF2B5EF4-FFF2-40B4-BE49-F238E27FC236}">
                <a16:creationId xmlns:a16="http://schemas.microsoft.com/office/drawing/2014/main" id="{D2C4CF27-B34E-0D1E-3FBA-5795627549DA}"/>
              </a:ext>
            </a:extLst>
          </p:cNvPr>
          <p:cNvSpPr>
            <a:spLocks noGrp="1" noRot="1" noMove="1" noResize="1" noEditPoints="1" noAdjustHandles="1" noChangeArrowheads="1" noChangeShapeType="1"/>
          </p:cNvSpPr>
          <p:nvPr/>
        </p:nvSpPr>
        <p:spPr>
          <a:xfrm>
            <a:off x="9601200" y="7581900"/>
            <a:ext cx="773293" cy="257120"/>
          </a:xfrm>
          <a:custGeom>
            <a:avLst/>
            <a:gdLst/>
            <a:ahLst/>
            <a:cxnLst/>
            <a:rect l="l" t="t" r="r" b="b"/>
            <a:pathLst>
              <a:path w="618836" h="205763">
                <a:moveTo>
                  <a:pt x="0" y="0"/>
                </a:moveTo>
                <a:lnTo>
                  <a:pt x="618836" y="0"/>
                </a:lnTo>
                <a:lnTo>
                  <a:pt x="618836" y="205763"/>
                </a:lnTo>
                <a:lnTo>
                  <a:pt x="0" y="2057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NZ"/>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9F0"/>
        </a:solidFill>
        <a:effectLst/>
      </p:bgPr>
    </p:bg>
    <p:spTree>
      <p:nvGrpSpPr>
        <p:cNvPr id="1" name=""/>
        <p:cNvGrpSpPr/>
        <p:nvPr/>
      </p:nvGrpSpPr>
      <p:grpSpPr>
        <a:xfrm>
          <a:off x="0" y="0"/>
          <a:ext cx="0" cy="0"/>
          <a:chOff x="0" y="0"/>
          <a:chExt cx="0" cy="0"/>
        </a:xfrm>
      </p:grpSpPr>
      <p:sp>
        <p:nvSpPr>
          <p:cNvPr id="2" name="TextBox 2"/>
          <p:cNvSpPr txBox="1">
            <a:spLocks noGrp="1" noRot="1" noMove="1" noResize="1" noEditPoints="1" noAdjustHandles="1" noChangeArrowheads="1" noChangeShapeType="1"/>
          </p:cNvSpPr>
          <p:nvPr/>
        </p:nvSpPr>
        <p:spPr>
          <a:xfrm>
            <a:off x="7728281" y="6592467"/>
            <a:ext cx="7502718" cy="1009614"/>
          </a:xfrm>
          <a:prstGeom prst="rect">
            <a:avLst/>
          </a:prstGeom>
        </p:spPr>
        <p:txBody>
          <a:bodyPr lIns="0" tIns="0" rIns="0" bIns="0" rtlCol="0" anchor="t">
            <a:spAutoFit/>
          </a:bodyPr>
          <a:lstStyle/>
          <a:p>
            <a:pPr algn="l">
              <a:lnSpc>
                <a:spcPts val="7920"/>
              </a:lnSpc>
            </a:pPr>
            <a:r>
              <a:rPr lang="en-US" sz="6600" dirty="0">
                <a:solidFill>
                  <a:srgbClr val="182230"/>
                </a:solidFill>
                <a:latin typeface="+mj-lt"/>
              </a:rPr>
              <a:t>R is for Review</a:t>
            </a:r>
          </a:p>
        </p:txBody>
      </p:sp>
      <p:sp>
        <p:nvSpPr>
          <p:cNvPr id="3" name="Freeform 3"/>
          <p:cNvSpPr>
            <a:spLocks noGrp="1" noRot="1" noMove="1" noResize="1" noEditPoints="1" noAdjustHandles="1" noChangeArrowheads="1" noChangeShapeType="1"/>
          </p:cNvSpPr>
          <p:nvPr/>
        </p:nvSpPr>
        <p:spPr>
          <a:xfrm rot="151781">
            <a:off x="1336231" y="2234266"/>
            <a:ext cx="14673103" cy="3503203"/>
          </a:xfrm>
          <a:custGeom>
            <a:avLst/>
            <a:gdLst/>
            <a:ahLst/>
            <a:cxnLst/>
            <a:rect l="l" t="t" r="r" b="b"/>
            <a:pathLst>
              <a:path w="14673103" h="3503203">
                <a:moveTo>
                  <a:pt x="0" y="0"/>
                </a:moveTo>
                <a:lnTo>
                  <a:pt x="14673103" y="0"/>
                </a:lnTo>
                <a:lnTo>
                  <a:pt x="14673103" y="3503204"/>
                </a:lnTo>
                <a:lnTo>
                  <a:pt x="0" y="35032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NZ"/>
          </a:p>
        </p:txBody>
      </p:sp>
      <p:sp>
        <p:nvSpPr>
          <p:cNvPr id="4" name="TextBox 4"/>
          <p:cNvSpPr txBox="1">
            <a:spLocks noGrp="1" noRot="1" noMove="1" noResize="1" noEditPoints="1" noAdjustHandles="1" noChangeArrowheads="1" noChangeShapeType="1"/>
          </p:cNvSpPr>
          <p:nvPr/>
        </p:nvSpPr>
        <p:spPr>
          <a:xfrm>
            <a:off x="4159206" y="2860063"/>
            <a:ext cx="10807788" cy="2667135"/>
          </a:xfrm>
          <a:prstGeom prst="rect">
            <a:avLst/>
          </a:prstGeom>
        </p:spPr>
        <p:txBody>
          <a:bodyPr lIns="0" tIns="0" rIns="0" bIns="0" rtlCol="0" anchor="t">
            <a:spAutoFit/>
          </a:bodyPr>
          <a:lstStyle/>
          <a:p>
            <a:pPr algn="l">
              <a:lnSpc>
                <a:spcPts val="21064"/>
              </a:lnSpc>
            </a:pPr>
            <a:r>
              <a:rPr lang="en-US" sz="17553">
                <a:solidFill>
                  <a:srgbClr val="FFFFFF"/>
                </a:solidFill>
                <a:latin typeface="+mj-lt"/>
              </a:rPr>
              <a:t>SMA    T</a:t>
            </a:r>
          </a:p>
        </p:txBody>
      </p:sp>
      <p:sp>
        <p:nvSpPr>
          <p:cNvPr id="5" name="TextBox 5"/>
          <p:cNvSpPr txBox="1">
            <a:spLocks noGrp="1" noRot="1" noMove="1" noResize="1" noEditPoints="1" noAdjustHandles="1" noChangeArrowheads="1" noChangeShapeType="1"/>
          </p:cNvSpPr>
          <p:nvPr/>
        </p:nvSpPr>
        <p:spPr>
          <a:xfrm>
            <a:off x="9119526" y="1257300"/>
            <a:ext cx="2386674" cy="5289908"/>
          </a:xfrm>
          <a:prstGeom prst="rect">
            <a:avLst/>
          </a:prstGeom>
        </p:spPr>
        <p:txBody>
          <a:bodyPr lIns="0" tIns="0" rIns="0" bIns="0" rtlCol="0" anchor="t">
            <a:spAutoFit/>
          </a:bodyPr>
          <a:lstStyle/>
          <a:p>
            <a:pPr algn="ctr">
              <a:lnSpc>
                <a:spcPts val="43200"/>
              </a:lnSpc>
              <a:spcBef>
                <a:spcPct val="0"/>
              </a:spcBef>
            </a:pPr>
            <a:r>
              <a:rPr lang="en-US" sz="30857" dirty="0">
                <a:solidFill>
                  <a:srgbClr val="FC7373"/>
                </a:solidFill>
                <a:latin typeface="+mj-lt"/>
              </a:rPr>
              <a:t>R</a:t>
            </a:r>
          </a:p>
        </p:txBody>
      </p:sp>
      <p:sp>
        <p:nvSpPr>
          <p:cNvPr id="7" name="Freeform 7"/>
          <p:cNvSpPr>
            <a:spLocks noGrp="1" noRot="1" noMove="1" noResize="1" noEditPoints="1" noAdjustHandles="1" noChangeArrowheads="1" noChangeShapeType="1"/>
          </p:cNvSpPr>
          <p:nvPr/>
        </p:nvSpPr>
        <p:spPr>
          <a:xfrm flipH="1">
            <a:off x="643914" y="3822340"/>
            <a:ext cx="5878856" cy="6559393"/>
          </a:xfrm>
          <a:custGeom>
            <a:avLst/>
            <a:gdLst/>
            <a:ahLst/>
            <a:cxnLst/>
            <a:rect l="l" t="t" r="r" b="b"/>
            <a:pathLst>
              <a:path w="5878856" h="6559393">
                <a:moveTo>
                  <a:pt x="5878856" y="0"/>
                </a:moveTo>
                <a:lnTo>
                  <a:pt x="0" y="0"/>
                </a:lnTo>
                <a:lnTo>
                  <a:pt x="0" y="6559393"/>
                </a:lnTo>
                <a:lnTo>
                  <a:pt x="5878856" y="6559393"/>
                </a:lnTo>
                <a:lnTo>
                  <a:pt x="5878856"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8" name="Freeform 8"/>
          <p:cNvSpPr>
            <a:spLocks noGrp="1" noRot="1" noMove="1" noResize="1" noEditPoints="1" noAdjustHandles="1" noChangeArrowheads="1" noChangeShapeType="1"/>
          </p:cNvSpPr>
          <p:nvPr/>
        </p:nvSpPr>
        <p:spPr>
          <a:xfrm>
            <a:off x="2980824" y="5078255"/>
            <a:ext cx="935279" cy="310980"/>
          </a:xfrm>
          <a:custGeom>
            <a:avLst/>
            <a:gdLst/>
            <a:ahLst/>
            <a:cxnLst/>
            <a:rect l="l" t="t" r="r" b="b"/>
            <a:pathLst>
              <a:path w="935279" h="310980">
                <a:moveTo>
                  <a:pt x="0" y="0"/>
                </a:moveTo>
                <a:lnTo>
                  <a:pt x="935279" y="0"/>
                </a:lnTo>
                <a:lnTo>
                  <a:pt x="935279" y="310980"/>
                </a:lnTo>
                <a:lnTo>
                  <a:pt x="0" y="3109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NZ"/>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9F0"/>
        </a:solidFill>
        <a:effectLst/>
      </p:bgPr>
    </p:bg>
    <p:spTree>
      <p:nvGrpSpPr>
        <p:cNvPr id="1" name=""/>
        <p:cNvGrpSpPr/>
        <p:nvPr/>
      </p:nvGrpSpPr>
      <p:grpSpPr>
        <a:xfrm>
          <a:off x="0" y="0"/>
          <a:ext cx="0" cy="0"/>
          <a:chOff x="0" y="0"/>
          <a:chExt cx="0" cy="0"/>
        </a:xfrm>
      </p:grpSpPr>
      <p:sp>
        <p:nvSpPr>
          <p:cNvPr id="9" name="Freeform 3">
            <a:extLst>
              <a:ext uri="{FF2B5EF4-FFF2-40B4-BE49-F238E27FC236}">
                <a16:creationId xmlns:a16="http://schemas.microsoft.com/office/drawing/2014/main" id="{454DBC81-6F9B-0708-3483-618ADEE2AD0A}"/>
              </a:ext>
            </a:extLst>
          </p:cNvPr>
          <p:cNvSpPr>
            <a:spLocks noGrp="1" noRot="1" noMove="1" noResize="1" noEditPoints="1" noAdjustHandles="1" noChangeArrowheads="1" noChangeShapeType="1"/>
          </p:cNvSpPr>
          <p:nvPr/>
        </p:nvSpPr>
        <p:spPr>
          <a:xfrm rot="151781">
            <a:off x="6345078" y="1405040"/>
            <a:ext cx="10201247" cy="2435548"/>
          </a:xfrm>
          <a:custGeom>
            <a:avLst/>
            <a:gdLst/>
            <a:ahLst/>
            <a:cxnLst/>
            <a:rect l="l" t="t" r="r" b="b"/>
            <a:pathLst>
              <a:path w="10201247" h="2435548">
                <a:moveTo>
                  <a:pt x="0" y="0"/>
                </a:moveTo>
                <a:lnTo>
                  <a:pt x="10201248" y="0"/>
                </a:lnTo>
                <a:lnTo>
                  <a:pt x="10201248" y="2435548"/>
                </a:lnTo>
                <a:lnTo>
                  <a:pt x="0" y="243554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NZ"/>
          </a:p>
        </p:txBody>
      </p:sp>
      <p:sp>
        <p:nvSpPr>
          <p:cNvPr id="2" name="TextBox 2"/>
          <p:cNvSpPr txBox="1">
            <a:spLocks noGrp="1" noRot="1" noMove="1" noResize="1" noEditPoints="1" noAdjustHandles="1" noChangeArrowheads="1" noChangeShapeType="1"/>
          </p:cNvSpPr>
          <p:nvPr/>
        </p:nvSpPr>
        <p:spPr>
          <a:xfrm>
            <a:off x="6984329" y="4551875"/>
            <a:ext cx="7150935" cy="2009703"/>
          </a:xfrm>
          <a:prstGeom prst="rect">
            <a:avLst/>
          </a:prstGeom>
        </p:spPr>
        <p:txBody>
          <a:bodyPr lIns="0" tIns="0" rIns="0" bIns="0" rtlCol="0" anchor="t">
            <a:spAutoFit/>
          </a:bodyPr>
          <a:lstStyle/>
          <a:p>
            <a:pPr algn="l">
              <a:lnSpc>
                <a:spcPts val="7920"/>
              </a:lnSpc>
            </a:pPr>
            <a:r>
              <a:rPr lang="en-US" sz="6600" dirty="0">
                <a:solidFill>
                  <a:srgbClr val="000000"/>
                </a:solidFill>
                <a:latin typeface="+mj-lt"/>
              </a:rPr>
              <a:t>Bias - something we tend towards</a:t>
            </a:r>
          </a:p>
        </p:txBody>
      </p:sp>
      <p:sp>
        <p:nvSpPr>
          <p:cNvPr id="4" name="TextBox 4"/>
          <p:cNvSpPr txBox="1">
            <a:spLocks noGrp="1" noRot="1" noMove="1" noResize="1" noEditPoints="1" noAdjustHandles="1" noChangeArrowheads="1" noChangeShapeType="1"/>
          </p:cNvSpPr>
          <p:nvPr/>
        </p:nvSpPr>
        <p:spPr>
          <a:xfrm>
            <a:off x="7487488" y="1746514"/>
            <a:ext cx="11976585" cy="1376146"/>
          </a:xfrm>
          <a:prstGeom prst="rect">
            <a:avLst/>
          </a:prstGeom>
        </p:spPr>
        <p:txBody>
          <a:bodyPr lIns="0" tIns="0" rIns="0" bIns="0" rtlCol="0" anchor="t">
            <a:spAutoFit/>
          </a:bodyPr>
          <a:lstStyle/>
          <a:p>
            <a:pPr algn="l">
              <a:lnSpc>
                <a:spcPts val="11279"/>
              </a:lnSpc>
            </a:pPr>
            <a:r>
              <a:rPr lang="en-US" sz="9399" dirty="0">
                <a:solidFill>
                  <a:srgbClr val="182230"/>
                </a:solidFill>
                <a:latin typeface="+mj-lt"/>
              </a:rPr>
              <a:t>Our Biases</a:t>
            </a:r>
          </a:p>
        </p:txBody>
      </p:sp>
      <p:sp>
        <p:nvSpPr>
          <p:cNvPr id="6" name="Freeform 6"/>
          <p:cNvSpPr>
            <a:spLocks noGrp="1" noRot="1" noMove="1" noResize="1" noEditPoints="1" noAdjustHandles="1" noChangeArrowheads="1" noChangeShapeType="1"/>
          </p:cNvSpPr>
          <p:nvPr/>
        </p:nvSpPr>
        <p:spPr>
          <a:xfrm>
            <a:off x="424678" y="4305300"/>
            <a:ext cx="6076451" cy="6122369"/>
          </a:xfrm>
          <a:custGeom>
            <a:avLst/>
            <a:gdLst/>
            <a:ahLst/>
            <a:cxnLst/>
            <a:rect l="l" t="t" r="r" b="b"/>
            <a:pathLst>
              <a:path w="6076451" h="6122369">
                <a:moveTo>
                  <a:pt x="0" y="0"/>
                </a:moveTo>
                <a:lnTo>
                  <a:pt x="6076451" y="0"/>
                </a:lnTo>
                <a:lnTo>
                  <a:pt x="6076451" y="6122369"/>
                </a:lnTo>
                <a:lnTo>
                  <a:pt x="0" y="61223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7" name="Freeform 7"/>
          <p:cNvSpPr>
            <a:spLocks noGrp="1" noRot="1" noMove="1" noResize="1" noEditPoints="1" noAdjustHandles="1" noChangeArrowheads="1" noChangeShapeType="1"/>
          </p:cNvSpPr>
          <p:nvPr/>
        </p:nvSpPr>
        <p:spPr>
          <a:xfrm>
            <a:off x="3462904" y="5905500"/>
            <a:ext cx="1264573" cy="420470"/>
          </a:xfrm>
          <a:custGeom>
            <a:avLst/>
            <a:gdLst/>
            <a:ahLst/>
            <a:cxnLst/>
            <a:rect l="l" t="t" r="r" b="b"/>
            <a:pathLst>
              <a:path w="1264573" h="420470">
                <a:moveTo>
                  <a:pt x="0" y="0"/>
                </a:moveTo>
                <a:lnTo>
                  <a:pt x="1264573" y="0"/>
                </a:lnTo>
                <a:lnTo>
                  <a:pt x="1264573" y="420470"/>
                </a:lnTo>
                <a:lnTo>
                  <a:pt x="0" y="42047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NZ"/>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9F0"/>
        </a:solidFill>
        <a:effectLst/>
      </p:bgPr>
    </p:bg>
    <p:spTree>
      <p:nvGrpSpPr>
        <p:cNvPr id="1" name=""/>
        <p:cNvGrpSpPr/>
        <p:nvPr/>
      </p:nvGrpSpPr>
      <p:grpSpPr>
        <a:xfrm>
          <a:off x="0" y="0"/>
          <a:ext cx="0" cy="0"/>
          <a:chOff x="0" y="0"/>
          <a:chExt cx="0" cy="0"/>
        </a:xfrm>
      </p:grpSpPr>
      <p:sp>
        <p:nvSpPr>
          <p:cNvPr id="2" name="TextBox 2"/>
          <p:cNvSpPr txBox="1">
            <a:spLocks noGrp="1" noRot="1" noMove="1" noResize="1" noEditPoints="1" noAdjustHandles="1" noChangeArrowheads="1" noChangeShapeType="1"/>
          </p:cNvSpPr>
          <p:nvPr/>
        </p:nvSpPr>
        <p:spPr>
          <a:xfrm>
            <a:off x="4882439" y="6722957"/>
            <a:ext cx="10199523" cy="1009614"/>
          </a:xfrm>
          <a:prstGeom prst="rect">
            <a:avLst/>
          </a:prstGeom>
        </p:spPr>
        <p:txBody>
          <a:bodyPr lIns="0" tIns="0" rIns="0" bIns="0" rtlCol="0" anchor="t">
            <a:spAutoFit/>
          </a:bodyPr>
          <a:lstStyle/>
          <a:p>
            <a:pPr algn="l">
              <a:lnSpc>
                <a:spcPts val="7920"/>
              </a:lnSpc>
            </a:pPr>
            <a:r>
              <a:rPr lang="en-US" sz="6600">
                <a:solidFill>
                  <a:srgbClr val="182230"/>
                </a:solidFill>
                <a:latin typeface="+mj-lt"/>
              </a:rPr>
              <a:t>T is for Two-Source Test</a:t>
            </a:r>
          </a:p>
        </p:txBody>
      </p:sp>
      <p:sp>
        <p:nvSpPr>
          <p:cNvPr id="3" name="Freeform 3"/>
          <p:cNvSpPr>
            <a:spLocks noGrp="1" noRot="1" noMove="1" noResize="1" noEditPoints="1" noAdjustHandles="1" noChangeArrowheads="1" noChangeShapeType="1"/>
          </p:cNvSpPr>
          <p:nvPr/>
        </p:nvSpPr>
        <p:spPr>
          <a:xfrm rot="151781">
            <a:off x="1336231" y="2234266"/>
            <a:ext cx="14673103" cy="3503203"/>
          </a:xfrm>
          <a:custGeom>
            <a:avLst/>
            <a:gdLst/>
            <a:ahLst/>
            <a:cxnLst/>
            <a:rect l="l" t="t" r="r" b="b"/>
            <a:pathLst>
              <a:path w="14673103" h="3503203">
                <a:moveTo>
                  <a:pt x="0" y="0"/>
                </a:moveTo>
                <a:lnTo>
                  <a:pt x="14673103" y="0"/>
                </a:lnTo>
                <a:lnTo>
                  <a:pt x="14673103" y="3503204"/>
                </a:lnTo>
                <a:lnTo>
                  <a:pt x="0" y="35032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NZ"/>
          </a:p>
        </p:txBody>
      </p:sp>
      <p:sp>
        <p:nvSpPr>
          <p:cNvPr id="4" name="TextBox 4"/>
          <p:cNvSpPr txBox="1">
            <a:spLocks noGrp="1" noRot="1" noMove="1" noResize="1" noEditPoints="1" noAdjustHandles="1" noChangeArrowheads="1" noChangeShapeType="1"/>
          </p:cNvSpPr>
          <p:nvPr/>
        </p:nvSpPr>
        <p:spPr>
          <a:xfrm>
            <a:off x="4540206" y="2879113"/>
            <a:ext cx="10807788" cy="2667135"/>
          </a:xfrm>
          <a:prstGeom prst="rect">
            <a:avLst/>
          </a:prstGeom>
        </p:spPr>
        <p:txBody>
          <a:bodyPr lIns="0" tIns="0" rIns="0" bIns="0" rtlCol="0" anchor="t">
            <a:spAutoFit/>
          </a:bodyPr>
          <a:lstStyle/>
          <a:p>
            <a:pPr algn="l">
              <a:lnSpc>
                <a:spcPts val="21064"/>
              </a:lnSpc>
            </a:pPr>
            <a:r>
              <a:rPr lang="en-US" sz="17553" dirty="0">
                <a:solidFill>
                  <a:srgbClr val="FFFFFF"/>
                </a:solidFill>
                <a:latin typeface="+mj-lt"/>
              </a:rPr>
              <a:t>SMAR</a:t>
            </a:r>
          </a:p>
        </p:txBody>
      </p:sp>
      <p:sp>
        <p:nvSpPr>
          <p:cNvPr id="5" name="TextBox 5"/>
          <p:cNvSpPr txBox="1">
            <a:spLocks noGrp="1" noRot="1" noMove="1" noResize="1" noEditPoints="1" noAdjustHandles="1" noChangeArrowheads="1" noChangeShapeType="1"/>
          </p:cNvSpPr>
          <p:nvPr/>
        </p:nvSpPr>
        <p:spPr>
          <a:xfrm>
            <a:off x="10462487" y="1333500"/>
            <a:ext cx="2186713" cy="5302639"/>
          </a:xfrm>
          <a:prstGeom prst="rect">
            <a:avLst/>
          </a:prstGeom>
        </p:spPr>
        <p:txBody>
          <a:bodyPr lIns="0" tIns="0" rIns="0" bIns="0" rtlCol="0" anchor="t">
            <a:spAutoFit/>
          </a:bodyPr>
          <a:lstStyle/>
          <a:p>
            <a:pPr algn="ctr">
              <a:lnSpc>
                <a:spcPts val="43200"/>
              </a:lnSpc>
              <a:spcBef>
                <a:spcPct val="0"/>
              </a:spcBef>
            </a:pPr>
            <a:r>
              <a:rPr lang="en-US" sz="30857" dirty="0">
                <a:solidFill>
                  <a:srgbClr val="FC7373"/>
                </a:solidFill>
                <a:latin typeface="+mj-lt"/>
              </a:rPr>
              <a:t>T</a:t>
            </a:r>
          </a:p>
        </p:txBody>
      </p:sp>
      <p:sp>
        <p:nvSpPr>
          <p:cNvPr id="6" name="Freeform 6"/>
          <p:cNvSpPr>
            <a:spLocks noGrp="1" noRot="1" noMove="1" noResize="1" noEditPoints="1" noAdjustHandles="1" noChangeArrowheads="1" noChangeShapeType="1"/>
          </p:cNvSpPr>
          <p:nvPr/>
        </p:nvSpPr>
        <p:spPr>
          <a:xfrm>
            <a:off x="209633" y="1470918"/>
            <a:ext cx="3484086" cy="6562491"/>
          </a:xfrm>
          <a:custGeom>
            <a:avLst/>
            <a:gdLst/>
            <a:ahLst/>
            <a:cxnLst/>
            <a:rect l="l" t="t" r="r" b="b"/>
            <a:pathLst>
              <a:path w="3484086" h="6562491">
                <a:moveTo>
                  <a:pt x="0" y="0"/>
                </a:moveTo>
                <a:lnTo>
                  <a:pt x="3484087" y="0"/>
                </a:lnTo>
                <a:lnTo>
                  <a:pt x="3484087" y="6562492"/>
                </a:lnTo>
                <a:lnTo>
                  <a:pt x="0" y="656249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8" name="Freeform 8"/>
          <p:cNvSpPr>
            <a:spLocks noGrp="1" noRot="1" noMove="1" noResize="1" noEditPoints="1" noAdjustHandles="1" noChangeArrowheads="1" noChangeShapeType="1"/>
          </p:cNvSpPr>
          <p:nvPr/>
        </p:nvSpPr>
        <p:spPr>
          <a:xfrm rot="408337">
            <a:off x="2567604" y="2313152"/>
            <a:ext cx="618836" cy="205763"/>
          </a:xfrm>
          <a:custGeom>
            <a:avLst/>
            <a:gdLst/>
            <a:ahLst/>
            <a:cxnLst/>
            <a:rect l="l" t="t" r="r" b="b"/>
            <a:pathLst>
              <a:path w="618836" h="205763">
                <a:moveTo>
                  <a:pt x="0" y="0"/>
                </a:moveTo>
                <a:lnTo>
                  <a:pt x="618836" y="0"/>
                </a:lnTo>
                <a:lnTo>
                  <a:pt x="618836" y="205763"/>
                </a:lnTo>
                <a:lnTo>
                  <a:pt x="0" y="20576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NZ"/>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9F0"/>
        </a:solidFill>
        <a:effectLst/>
      </p:bgPr>
    </p:bg>
    <p:spTree>
      <p:nvGrpSpPr>
        <p:cNvPr id="1" name=""/>
        <p:cNvGrpSpPr/>
        <p:nvPr/>
      </p:nvGrpSpPr>
      <p:grpSpPr>
        <a:xfrm>
          <a:off x="0" y="0"/>
          <a:ext cx="0" cy="0"/>
          <a:chOff x="0" y="0"/>
          <a:chExt cx="0" cy="0"/>
        </a:xfrm>
      </p:grpSpPr>
      <p:sp>
        <p:nvSpPr>
          <p:cNvPr id="2" name="TextBox 2"/>
          <p:cNvSpPr txBox="1">
            <a:spLocks noGrp="1" noRot="1" noMove="1" noResize="1" noEditPoints="1" noAdjustHandles="1" noChangeArrowheads="1" noChangeShapeType="1"/>
          </p:cNvSpPr>
          <p:nvPr/>
        </p:nvSpPr>
        <p:spPr>
          <a:xfrm>
            <a:off x="3581399" y="641388"/>
            <a:ext cx="11772543" cy="8804199"/>
          </a:xfrm>
          <a:prstGeom prst="rect">
            <a:avLst/>
          </a:prstGeom>
        </p:spPr>
        <p:txBody>
          <a:bodyPr wrap="square" lIns="0" tIns="0" rIns="0" bIns="0" rtlCol="0" anchor="t">
            <a:spAutoFit/>
          </a:bodyPr>
          <a:lstStyle/>
          <a:p>
            <a:pPr>
              <a:lnSpc>
                <a:spcPts val="13999"/>
              </a:lnSpc>
            </a:pPr>
            <a:r>
              <a:rPr lang="en-US" sz="9600" dirty="0">
                <a:solidFill>
                  <a:srgbClr val="182230"/>
                </a:solidFill>
                <a:latin typeface="+mj-lt"/>
              </a:rPr>
              <a:t>- Source</a:t>
            </a:r>
          </a:p>
          <a:p>
            <a:pPr>
              <a:lnSpc>
                <a:spcPts val="13999"/>
              </a:lnSpc>
            </a:pPr>
            <a:r>
              <a:rPr lang="en-US" sz="9600" dirty="0">
                <a:solidFill>
                  <a:srgbClr val="182230"/>
                </a:solidFill>
                <a:latin typeface="+mj-lt"/>
              </a:rPr>
              <a:t>- Motive</a:t>
            </a:r>
          </a:p>
          <a:p>
            <a:pPr>
              <a:lnSpc>
                <a:spcPts val="13999"/>
              </a:lnSpc>
            </a:pPr>
            <a:r>
              <a:rPr lang="en-US" sz="9600" dirty="0">
                <a:solidFill>
                  <a:srgbClr val="182230"/>
                </a:solidFill>
                <a:latin typeface="+mj-lt"/>
              </a:rPr>
              <a:t>- Authority</a:t>
            </a:r>
          </a:p>
          <a:p>
            <a:pPr>
              <a:lnSpc>
                <a:spcPts val="13999"/>
              </a:lnSpc>
            </a:pPr>
            <a:r>
              <a:rPr lang="en-US" sz="9600" dirty="0">
                <a:solidFill>
                  <a:srgbClr val="182230"/>
                </a:solidFill>
                <a:latin typeface="+mj-lt"/>
              </a:rPr>
              <a:t>- Review</a:t>
            </a:r>
          </a:p>
          <a:p>
            <a:pPr algn="l">
              <a:lnSpc>
                <a:spcPts val="13999"/>
              </a:lnSpc>
            </a:pPr>
            <a:r>
              <a:rPr lang="en-US" sz="9600" dirty="0">
                <a:solidFill>
                  <a:srgbClr val="182230"/>
                </a:solidFill>
                <a:latin typeface="+mj-lt"/>
              </a:rPr>
              <a:t>- Two-Source Test</a:t>
            </a:r>
          </a:p>
        </p:txBody>
      </p:sp>
      <p:sp>
        <p:nvSpPr>
          <p:cNvPr id="4" name="Freeform 4"/>
          <p:cNvSpPr>
            <a:spLocks noGrp="1" noRot="1" noMove="1" noResize="1" noEditPoints="1" noAdjustHandles="1" noChangeArrowheads="1" noChangeShapeType="1"/>
          </p:cNvSpPr>
          <p:nvPr/>
        </p:nvSpPr>
        <p:spPr>
          <a:xfrm>
            <a:off x="11381307" y="658977"/>
            <a:ext cx="5429236" cy="6519825"/>
          </a:xfrm>
          <a:custGeom>
            <a:avLst/>
            <a:gdLst/>
            <a:ahLst/>
            <a:cxnLst/>
            <a:rect l="l" t="t" r="r" b="b"/>
            <a:pathLst>
              <a:path w="5429236" h="6519825">
                <a:moveTo>
                  <a:pt x="0" y="0"/>
                </a:moveTo>
                <a:lnTo>
                  <a:pt x="5429236" y="0"/>
                </a:lnTo>
                <a:lnTo>
                  <a:pt x="5429236" y="6519825"/>
                </a:lnTo>
                <a:lnTo>
                  <a:pt x="0" y="65198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NZ"/>
          </a:p>
        </p:txBody>
      </p:sp>
      <p:sp>
        <p:nvSpPr>
          <p:cNvPr id="5" name="Freeform 5"/>
          <p:cNvSpPr>
            <a:spLocks noGrp="1" noRot="1" noMove="1" noResize="1" noEditPoints="1" noAdjustHandles="1" noChangeArrowheads="1" noChangeShapeType="1"/>
          </p:cNvSpPr>
          <p:nvPr/>
        </p:nvSpPr>
        <p:spPr>
          <a:xfrm rot="-619957">
            <a:off x="14564723" y="1473442"/>
            <a:ext cx="406777" cy="135253"/>
          </a:xfrm>
          <a:custGeom>
            <a:avLst/>
            <a:gdLst/>
            <a:ahLst/>
            <a:cxnLst/>
            <a:rect l="l" t="t" r="r" b="b"/>
            <a:pathLst>
              <a:path w="406777" h="135253">
                <a:moveTo>
                  <a:pt x="0" y="0"/>
                </a:moveTo>
                <a:lnTo>
                  <a:pt x="406777" y="0"/>
                </a:lnTo>
                <a:lnTo>
                  <a:pt x="406777" y="135254"/>
                </a:lnTo>
                <a:lnTo>
                  <a:pt x="0" y="1352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7" name="TextBox 6">
            <a:extLst>
              <a:ext uri="{FF2B5EF4-FFF2-40B4-BE49-F238E27FC236}">
                <a16:creationId xmlns:a16="http://schemas.microsoft.com/office/drawing/2014/main" id="{CEDD615D-E453-EAEB-E686-F2A88F20FD3D}"/>
              </a:ext>
            </a:extLst>
          </p:cNvPr>
          <p:cNvSpPr txBox="1">
            <a:spLocks noGrp="1" noRot="1" noMove="1" noResize="1" noEditPoints="1" noAdjustHandles="1" noChangeArrowheads="1" noChangeShapeType="1"/>
          </p:cNvSpPr>
          <p:nvPr/>
        </p:nvSpPr>
        <p:spPr>
          <a:xfrm>
            <a:off x="1828800" y="662066"/>
            <a:ext cx="1478868" cy="9017853"/>
          </a:xfrm>
          <a:prstGeom prst="rect">
            <a:avLst/>
          </a:prstGeom>
          <a:noFill/>
        </p:spPr>
        <p:txBody>
          <a:bodyPr wrap="square">
            <a:spAutoFit/>
          </a:bodyPr>
          <a:lstStyle/>
          <a:p>
            <a:pPr algn="ctr">
              <a:spcAft>
                <a:spcPts val="1800"/>
              </a:spcAft>
            </a:pPr>
            <a:r>
              <a:rPr lang="en-US" sz="10200" dirty="0">
                <a:solidFill>
                  <a:srgbClr val="FC7373"/>
                </a:solidFill>
                <a:latin typeface="+mj-lt"/>
              </a:rPr>
              <a:t>S</a:t>
            </a:r>
          </a:p>
          <a:p>
            <a:pPr algn="ctr">
              <a:spcAft>
                <a:spcPts val="1800"/>
              </a:spcAft>
            </a:pPr>
            <a:r>
              <a:rPr lang="en-US" sz="10200" dirty="0">
                <a:solidFill>
                  <a:srgbClr val="FC7373"/>
                </a:solidFill>
                <a:latin typeface="+mj-lt"/>
              </a:rPr>
              <a:t>M</a:t>
            </a:r>
          </a:p>
          <a:p>
            <a:pPr algn="ctr">
              <a:spcAft>
                <a:spcPts val="1800"/>
              </a:spcAft>
            </a:pPr>
            <a:r>
              <a:rPr lang="en-US" sz="10200" dirty="0">
                <a:solidFill>
                  <a:srgbClr val="FC7373"/>
                </a:solidFill>
                <a:latin typeface="+mj-lt"/>
              </a:rPr>
              <a:t>A</a:t>
            </a:r>
          </a:p>
          <a:p>
            <a:pPr algn="ctr">
              <a:spcAft>
                <a:spcPts val="1800"/>
              </a:spcAft>
            </a:pPr>
            <a:r>
              <a:rPr lang="en-US" sz="10200" dirty="0">
                <a:solidFill>
                  <a:srgbClr val="FC7373"/>
                </a:solidFill>
                <a:latin typeface="+mj-lt"/>
              </a:rPr>
              <a:t>R</a:t>
            </a:r>
          </a:p>
          <a:p>
            <a:pPr algn="ctr">
              <a:spcAft>
                <a:spcPts val="1800"/>
              </a:spcAft>
            </a:pPr>
            <a:r>
              <a:rPr lang="en-US" sz="10200" dirty="0">
                <a:solidFill>
                  <a:srgbClr val="FC7373"/>
                </a:solidFill>
                <a:latin typeface="+mj-lt"/>
              </a:rPr>
              <a:t>T</a:t>
            </a:r>
            <a:endParaRPr lang="en-NZ" sz="10200" dirty="0">
              <a:solidFill>
                <a:srgbClr val="FC7373"/>
              </a:solidFill>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9F0"/>
        </a:solidFill>
        <a:effectLst/>
      </p:bgPr>
    </p:bg>
    <p:spTree>
      <p:nvGrpSpPr>
        <p:cNvPr id="1" name="">
          <a:extLst>
            <a:ext uri="{FF2B5EF4-FFF2-40B4-BE49-F238E27FC236}">
              <a16:creationId xmlns:a16="http://schemas.microsoft.com/office/drawing/2014/main" id="{281DA122-880E-2C87-59E1-14C255FAA623}"/>
            </a:ext>
          </a:extLst>
        </p:cNvPr>
        <p:cNvGrpSpPr/>
        <p:nvPr/>
      </p:nvGrpSpPr>
      <p:grpSpPr>
        <a:xfrm>
          <a:off x="0" y="0"/>
          <a:ext cx="0" cy="0"/>
          <a:chOff x="0" y="0"/>
          <a:chExt cx="0" cy="0"/>
        </a:xfrm>
      </p:grpSpPr>
    </p:spTree>
    <p:extLst>
      <p:ext uri="{BB962C8B-B14F-4D97-AF65-F5344CB8AC3E}">
        <p14:creationId xmlns:p14="http://schemas.microsoft.com/office/powerpoint/2010/main" val="3311141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Lexend"/>
        <a:ea typeface=""/>
        <a:cs typeface=""/>
      </a:majorFont>
      <a:minorFont>
        <a:latin typeface="Proxima Nov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8097129-1880-4057-a6fa-b53f8c6f2a1d">
      <Terms xmlns="http://schemas.microsoft.com/office/infopath/2007/PartnerControls"/>
    </lcf76f155ced4ddcb4097134ff3c332f>
    <TaxCatchAll xmlns="e08e3b84-c1a7-488b-bc2c-03bc282b7ab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830F0F40B26004BBBCBEEFFBA076F39" ma:contentTypeVersion="20" ma:contentTypeDescription="Create a new document." ma:contentTypeScope="" ma:versionID="1bce4eaeba135a659d5968ae1fe13134">
  <xsd:schema xmlns:xsd="http://www.w3.org/2001/XMLSchema" xmlns:xs="http://www.w3.org/2001/XMLSchema" xmlns:p="http://schemas.microsoft.com/office/2006/metadata/properties" xmlns:ns2="e08e3b84-c1a7-488b-bc2c-03bc282b7ab0" xmlns:ns3="98097129-1880-4057-a6fa-b53f8c6f2a1d" targetNamespace="http://schemas.microsoft.com/office/2006/metadata/properties" ma:root="true" ma:fieldsID="0c584b76b772e81557ebbc52c386ba33" ns2:_="" ns3:_="">
    <xsd:import namespace="e08e3b84-c1a7-488b-bc2c-03bc282b7ab0"/>
    <xsd:import namespace="98097129-1880-4057-a6fa-b53f8c6f2a1d"/>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EventHashCode" minOccurs="0"/>
                <xsd:element ref="ns3:MediaServiceGenerationTime" minOccurs="0"/>
                <xsd:element ref="ns3:MediaServiceAutoKeyPoints" minOccurs="0"/>
                <xsd:element ref="ns3:MediaServiceKeyPoints"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8e3b84-c1a7-488b-bc2c-03bc282b7ab0"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element name="TaxCatchAll" ma:index="25" nillable="true" ma:displayName="Taxonomy Catch All Column" ma:hidden="true" ma:list="{df6db0c7-bc53-4528-9f7e-cee6c622487b}" ma:internalName="TaxCatchAll" ma:showField="CatchAllData" ma:web="e08e3b84-c1a7-488b-bc2c-03bc282b7ab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8097129-1880-4057-a6fa-b53f8c6f2a1d"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description="" ma:hidden="true" ma:internalName="MediaServiceDateTaken" ma:readOnly="true">
      <xsd:simpleType>
        <xsd:restriction base="dms:Text"/>
      </xsd:simpleType>
    </xsd:element>
    <xsd:element name="MediaServiceAutoTags" ma:index="15" nillable="true" ma:displayName="MediaServiceAutoTags" ma:internalName="MediaServiceAutoTags"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MediaServiceLocation" ma:index="22" nillable="true" ma:displayName="Location" ma:internalName="MediaServiceLocation" ma:readOnly="true">
      <xsd:simpleType>
        <xsd:restriction base="dms:Text"/>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89be550f-ac6a-4320-b739-98c2d0e22bdd"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ObjectDetectorVersions" ma:index="27"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438B27-5782-4F05-8E3F-BBEE6A1A112A}">
  <ds:schemaRefs>
    <ds:schemaRef ds:uri="http://schemas.microsoft.com/sharepoint/v3/contenttype/forms"/>
  </ds:schemaRefs>
</ds:datastoreItem>
</file>

<file path=customXml/itemProps2.xml><?xml version="1.0" encoding="utf-8"?>
<ds:datastoreItem xmlns:ds="http://schemas.openxmlformats.org/officeDocument/2006/customXml" ds:itemID="{E92F1656-3D28-4744-BDF1-8FBC17AD5190}">
  <ds:schemaRefs>
    <ds:schemaRef ds:uri="http://www.w3.org/XML/1998/namespace"/>
    <ds:schemaRef ds:uri="http://schemas.microsoft.com/office/2006/documentManagement/types"/>
    <ds:schemaRef ds:uri="http://purl.org/dc/elements/1.1/"/>
    <ds:schemaRef ds:uri="http://purl.org/dc/terms/"/>
    <ds:schemaRef ds:uri="e08e3b84-c1a7-488b-bc2c-03bc282b7ab0"/>
    <ds:schemaRef ds:uri="http://purl.org/dc/dcmitype/"/>
    <ds:schemaRef ds:uri="http://schemas.microsoft.com/office/infopath/2007/PartnerControls"/>
    <ds:schemaRef ds:uri="http://schemas.openxmlformats.org/package/2006/metadata/core-properties"/>
    <ds:schemaRef ds:uri="98097129-1880-4057-a6fa-b53f8c6f2a1d"/>
    <ds:schemaRef ds:uri="http://schemas.microsoft.com/office/2006/metadata/properties"/>
  </ds:schemaRefs>
</ds:datastoreItem>
</file>

<file path=customXml/itemProps3.xml><?xml version="1.0" encoding="utf-8"?>
<ds:datastoreItem xmlns:ds="http://schemas.openxmlformats.org/officeDocument/2006/customXml" ds:itemID="{883BB0A2-06E7-4123-B467-4E468E47E3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8e3b84-c1a7-488b-bc2c-03bc282b7ab0"/>
    <ds:schemaRef ds:uri="98097129-1880-4057-a6fa-b53f8c6f2a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1678</TotalTime>
  <Words>1279</Words>
  <Application>Microsoft Office PowerPoint</Application>
  <PresentationFormat>Custom</PresentationFormat>
  <Paragraphs>144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Lexend</vt:lpstr>
      <vt:lpstr>Proxima Nova</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 Savvy</dc:title>
  <cp:lastModifiedBy>Hayley Cross</cp:lastModifiedBy>
  <cp:revision>6</cp:revision>
  <dcterms:created xsi:type="dcterms:W3CDTF">2006-08-16T00:00:00Z</dcterms:created>
  <dcterms:modified xsi:type="dcterms:W3CDTF">2025-08-19T20:46:31Z</dcterms:modified>
  <dc:identifier>DAF61izoFk0</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0x010100D830F0F40B26004BBBCBEEFFBA076F39</vt:lpwstr>
  </property>
  <property fmtid="{D5CDD505-2E9C-101B-9397-08002B2CF9AE}" pid="3" name="MediaServiceImageTags">
    <vt:lpwstr/>
  </property>
</Properties>
</file>